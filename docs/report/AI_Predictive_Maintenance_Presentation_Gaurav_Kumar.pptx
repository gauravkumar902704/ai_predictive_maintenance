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F1</c:v>
                </c:pt>
              </c:strCache>
            </c:strRef>
          </c:tx>
          <c:spPr>
            <a:solidFill>
              <a:srgbClr val="14B8A6"/>
            </a:solidFill>
            <a:effectLst/>
          </c:spPr>
          <c:invertIfNegative val="0"/>
          <c:dLbls>
            <c:numFmt formatCode="0.00" sourceLinked="0"/>
            <c:txPr>
              <a:bodyPr/>
              <a:lstStyle/>
              <a:p>
                <a:pPr>
                  <a:defRPr b="0" i="0" strike="noStrike" sz="1000" u="none">
                    <a:solidFill>
                      <a:srgbClr val="1F2A4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Decision Tree</c:v>
                  </c:pt>
                  <c:pt idx="2">
                    <c:v>Random Forest</c:v>
                  </c:pt>
                  <c:pt idx="3">
                    <c:v>Gradient Boosting</c:v>
                  </c:pt>
                </c:lvl>
              </c:multiLvlStrCache>
            </c:multiLvlStrRef>
          </c:cat>
          <c:val>
            <c:numRef>
              <c:f>Sheet1!$B$2:$B$5</c:f>
              <c:numCache>
                <c:formatCode>General</c:formatCode>
                <c:ptCount val="4"/>
                <c:pt idx="0">
                  <c:v>0.289</c:v>
                </c:pt>
                <c:pt idx="1">
                  <c:v>0.76</c:v>
                </c:pt>
                <c:pt idx="2">
                  <c:v>0.857</c:v>
                </c:pt>
                <c:pt idx="3">
                  <c:v>0.897</c:v>
                </c:pt>
              </c:numCache>
            </c:numRef>
          </c:val>
        </c:ser>
        <c:ser>
          <c:idx val="1"/>
          <c:order val="1"/>
          <c:tx>
            <c:strRef>
              <c:f>Sheet1!$C$1</c:f>
              <c:strCache>
                <c:ptCount val="1"/>
                <c:pt idx="0">
                  <c:v>PR-AUC</c:v>
                </c:pt>
              </c:strCache>
            </c:strRef>
          </c:tx>
          <c:spPr>
            <a:solidFill>
              <a:srgbClr val="6366F1"/>
            </a:solidFill>
            <a:effectLst/>
          </c:spPr>
          <c:invertIfNegative val="0"/>
          <c:dLbls>
            <c:numFmt formatCode="0.00" sourceLinked="0"/>
            <c:txPr>
              <a:bodyPr/>
              <a:lstStyle/>
              <a:p>
                <a:pPr>
                  <a:defRPr b="0" i="0" strike="noStrike" sz="1000" u="none">
                    <a:solidFill>
                      <a:srgbClr val="1F2A4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Decision Tree</c:v>
                  </c:pt>
                  <c:pt idx="2">
                    <c:v>Random Forest</c:v>
                  </c:pt>
                  <c:pt idx="3">
                    <c:v>Gradient Boosting</c:v>
                  </c:pt>
                </c:lvl>
              </c:multiLvlStrCache>
            </c:multiLvlStrRef>
          </c:cat>
          <c:val>
            <c:numRef>
              <c:f>Sheet1!$C$2:$C$5</c:f>
              <c:numCache>
                <c:formatCode>General</c:formatCode>
                <c:ptCount val="4"/>
                <c:pt idx="0">
                  <c:v>0.491</c:v>
                </c:pt>
                <c:pt idx="1">
                  <c:v>0.879</c:v>
                </c:pt>
                <c:pt idx="2">
                  <c:v>0.933</c:v>
                </c:pt>
                <c:pt idx="3">
                  <c:v>0.937</c:v>
                </c:pt>
              </c:numCache>
            </c:numRef>
          </c:val>
        </c:ser>
        <c:dLbls>
          <c:numFmt formatCode="0.00" sourceLinked="0"/>
          <c:txPr>
            <a:bodyPr/>
            <a:lstStyle/>
            <a:p>
              <a:pPr>
                <a:defRPr b="0" i="0" strike="noStrike" sz="1000" u="none">
                  <a:solidFill>
                    <a:srgbClr val="1F2A4D"/>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4D"/>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A4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Synthetic data</c:v>
                </c:pt>
              </c:strCache>
            </c:strRef>
          </c:tx>
          <c:spPr>
            <a:solidFill>
              <a:srgbClr val="14B8A6"/>
            </a:solidFill>
            <a:effectLst/>
          </c:spPr>
          <c:invertIfNegative val="0"/>
          <c:dLbls>
            <c:numFmt formatCode="0.000" sourceLinked="0"/>
            <c:txPr>
              <a:bodyPr/>
              <a:lstStyle/>
              <a:p>
                <a:pPr>
                  <a:defRPr b="0" i="0" strike="noStrike" sz="1000" u="none">
                    <a:solidFill>
                      <a:srgbClr val="1F2A4D"/>
                    </a:solidFill>
                    <a:latin typeface="Calibri"/>
                  </a:defRPr>
                </a:pPr>
              </a:p>
            </c:txPr>
            <c:showLegendKey val="0"/>
            <c:showVal val="1"/>
            <c:showCatName val="0"/>
            <c:showSerName val="0"/>
            <c:showPercent val="0"/>
            <c:showBubbleSize val="0"/>
            <c:showLeaderLines val="0"/>
          </c:dLbls>
          <c:cat>
            <c:multiLvlStrRef>
              <c:f>Sheet1!$A$2:$A$3</c:f>
              <c:multiLvlStrCache>
                <c:ptCount val="2"/>
                <c:lvl>
                  <c:pt idx="0">
                    <c:v>F1</c:v>
                  </c:pt>
                  <c:pt idx="1">
                    <c:v>ROC-AUC</c:v>
                  </c:pt>
                </c:lvl>
              </c:multiLvlStrCache>
            </c:multiLvlStrRef>
          </c:cat>
          <c:val>
            <c:numRef>
              <c:f>Sheet1!$B$2:$B$3</c:f>
              <c:numCache>
                <c:formatCode>General</c:formatCode>
                <c:ptCount val="2"/>
                <c:pt idx="0">
                  <c:v>0.897</c:v>
                </c:pt>
                <c:pt idx="1">
                  <c:v>0.978</c:v>
                </c:pt>
              </c:numCache>
            </c:numRef>
          </c:val>
        </c:ser>
        <c:ser>
          <c:idx val="1"/>
          <c:order val="1"/>
          <c:tx>
            <c:strRef>
              <c:f>Sheet1!$C$1</c:f>
              <c:strCache>
                <c:ptCount val="1"/>
                <c:pt idx="0">
                  <c:v>Real AI4I 2020</c:v>
                </c:pt>
              </c:strCache>
            </c:strRef>
          </c:tx>
          <c:spPr>
            <a:solidFill>
              <a:srgbClr val="F59E0B"/>
            </a:solidFill>
            <a:effectLst/>
          </c:spPr>
          <c:invertIfNegative val="0"/>
          <c:dLbls>
            <c:numFmt formatCode="0.000" sourceLinked="0"/>
            <c:txPr>
              <a:bodyPr/>
              <a:lstStyle/>
              <a:p>
                <a:pPr>
                  <a:defRPr b="0" i="0" strike="noStrike" sz="1000" u="none">
                    <a:solidFill>
                      <a:srgbClr val="1F2A4D"/>
                    </a:solidFill>
                    <a:latin typeface="Calibri"/>
                  </a:defRPr>
                </a:pPr>
              </a:p>
            </c:txPr>
            <c:showLegendKey val="0"/>
            <c:showVal val="1"/>
            <c:showCatName val="0"/>
            <c:showSerName val="0"/>
            <c:showPercent val="0"/>
            <c:showBubbleSize val="0"/>
            <c:showLeaderLines val="0"/>
          </c:dLbls>
          <c:cat>
            <c:multiLvlStrRef>
              <c:f>Sheet1!$A$2:$A$3</c:f>
              <c:multiLvlStrCache>
                <c:ptCount val="2"/>
                <c:lvl>
                  <c:pt idx="0">
                    <c:v>F1</c:v>
                  </c:pt>
                  <c:pt idx="1">
                    <c:v>ROC-AUC</c:v>
                  </c:pt>
                </c:lvl>
              </c:multiLvlStrCache>
            </c:multiLvlStrRef>
          </c:cat>
          <c:val>
            <c:numRef>
              <c:f>Sheet1!$C$2:$C$3</c:f>
              <c:numCache>
                <c:formatCode>General</c:formatCode>
                <c:ptCount val="2"/>
                <c:pt idx="0">
                  <c:v>0.794</c:v>
                </c:pt>
                <c:pt idx="1">
                  <c:v>0.984</c:v>
                </c:pt>
              </c:numCache>
            </c:numRef>
          </c:val>
        </c:ser>
        <c:dLbls>
          <c:numFmt formatCode="0.000" sourceLinked="0"/>
          <c:txPr>
            <a:bodyPr/>
            <a:lstStyle/>
            <a:p>
              <a:pPr>
                <a:defRPr b="0" i="0" strike="noStrike" sz="1000" u="none">
                  <a:solidFill>
                    <a:srgbClr val="1F2A4D"/>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4D"/>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A4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Namaste. Mera project hai AI-Based Predictive Maintenance Platform. Isme maine sirf ek ML model nahi banaya, balki poora system banaya hai: data se prediction, prediction se risk level, aur risk level se maintenance ka action. Aage ke slides me main problem, approach, results aur demo explain karunga.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Maintenance teen tarah ki hoti hai. Reactive me machine kharab hone ke baad repair karte hain, isse downtime hota hai. Preventive me fixed schedule par check karte hain, par kai baar zaroorat nahi hoti. Predictive me sensor data dekhkar pehle hi pata chal jata hai ki kaun si machine fail hone wali hai. Mera dataset 50 machines ki 10,000 readings ka hai, aur sirf 2.96 percent readings failure hain. Ye imbalance aage ke slides me bahut important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Mere 6 objectives the. Pehla, har machine ka failure risk predict karna. Doosra, kai models compare karna taaki sahi model choose ho. Teesra, anomaly detection. Chautha, failure type aur remaining useful life ka estimate. Paanchva, ek web dashboard aur API. Aur chhatha, testing aur limitations ko honestly batana.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4 layers me hai. Presentation layer me Flask templates aur charts hain. Application layer me validation, risk rules, explanation aur maintenance workflow hai. ML layer me training aur saved model hai. Data layer me SQLite database ke 7 tables aur CSV datasets hain. Charts maine inline SVG se banaye hain, isliye koi JavaScript library ya internet nahi chahiye.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ka flow: data clean karna, features banana, time ke hisaab se train aur test split, models train karna, evaluate karna, aur best model ko save karke Flask app me use karna. Sabse important baat ye hai ki training aur prediction dono me same feature code chalta hai, isse mismatch nahi hota.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AI4I 2020 ke structure par based synthetic dataset hai, jisme maine machine id aur timestamp add kiya taaki trend features nikal sako. Kul 17 features hain: raw sensors, derived features jaise power aur temperature difference, aur trend features jaise rolling mean, delta aur slope. Rolling features sirf pichli readings se bante hain, isse data leakage nahi hota, aur iske liye ek test bhi likha hai. Temperature Kelvin me hai kyunki original dataset Kelvin me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ke teen important decisions. Pehla, time-based split: pehle 75 percent time train, aakhri 25 percent test. Random split se future ka data train me chala jata aur score jhootha achha aata. Doosra, imbalance ke liye class weights use kiye, SMOTE nahi, kyunki time series me synthetic points banana risky hai. Teesra, accuracy use nahi ki, kyunki hamesha no failure bolne par bhi 97 percent accuracy aa jaati hai. Isliye precision, recall, F1 aur PR-AUC dekhe.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Chaar models compare kiye. Logistic Regression ka recall 0.97 hai, yaani lagbhag saare failures pakadta hai, par uski precision sirf 0.17 hai, matlab bahut false alarms. Random Forest ki precision 0.97 hai par wo 23 percent failures miss karta hai. Gradient boosting me balance sabse achha hai: precision 0.91, recall 0.89, F1 0.897 aur PR-AUC 0.937. Isliye isse primary model chuna. Is machine par XGBoost install nahi tha, to sklearn ka HistGradientBoosting use hua; XGBoost install karne par ye automatically use hota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Selected model ke results. Test set me 2500 readings hain jinme 133 real failures. Model ne 118 failures pakde, 15 miss kiye, aur 12 false alarms diye. Maintenance me missed failure zyada costly hota hai, isliye threshold kam karke recall badhaya ja sakta hai, kuch zyada inspections ke badle. Notebook 03 me alag thresholds par precision aur recall ki table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me feature importance hai: temperature difference, rotational speed, tool wear aur torque sabse important features hain. Right side me explain kiya hai ki dashboard me 'why is this machine at risk' kaise nikalta hai. 17 features ko 8 sensor groups me baanta hoon, har group ko training median se replace karke dekhta hoon ki failure score kitna girta hai. Ye SHAP nahi hai, simple what-if method hai, aur ye maine honestly likha hai. SHAP future scope me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Teen supporting models hain. Anomaly detection Isolation Forest se, jo sirf healthy data se normal behaviour seekhta hai. Failure type model sirf failure rows par train hua hai, kyunki No Failure rows ke saath score artificially high aata. Weighted F1 0.95 hai par macro F1 0.79, kyunki rare types ke test examples bahut kam hain. RUL model experimental hai, MAE 7.75 hai jabki average predict karne par 10.22 aata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dashboard hai. Plant me log ek machine nahi, poori fleet dekhte hain. Isliye upar KPI cards hain, neeche risk ke hisaab se sorted table, aur trends. Sabse zyada risk wali machine sabse upar aati hai, saath me likely failure type bhi.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page par us machine ki poori detail hai: risk, health, estimated RUL, sensor trends, aur why it is at risk wala explanation. Recommended action failure type ke hisaab se aata hai, jaise heat dissipation failure ho to cooling system inspect karo. Yahin se maintenance record bhi ban jata hai, aur form prediction se pre-fill hota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is project ki main baat hai: prediction par rukna nahi, action tak jana. Risk predict hota hai, recommended action milta hai, maintenance record Scheduled status me banta hai, aur kaam hone par Mark completed. Maintenance due card un at-risk machines ko dikhata hai jinka koi open record nahi hai. Anomaly page par unusual readings severity ke saath dikhti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Maine same pipeline real AI4I 2020 dataset par bhi chalayi, bina code badle, sirf import script se convert karke. Wahan F1 0.794 aur ROC-AUC 0.984 aaya. F1 kam hai kyunki real AI4I me har row independent hai, machine ki history nahi hai, isliye rolling aur trend features kam kaam aate hain. Isse ye bhi pata chalta hai ki pipeline sirf apne synthetic data par tuned nahi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ke liye unittest framework use kiya, 46 tests hain aur sab pass hote hain. Tests temporary database par chalte hain taaki asli data na bigde. REST API bhi hai: predict, summary, machines, maintenance, drift aur health endpoints. Drift check batata hai ki live sensor data training data se kitna hat gaya, taaki pata chale kab model dobara train karna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maine honestly likhi hain. Default data synthetic hai, anomaly aur RUL experimental hain, explanation SHAP nahi hai, aur login ya CSRF protection nahi hai kyunki ye single user demo hai. Future me real plant data, live sensors MQTT ya OPC-UA se, SHAP, calibration aur proper authentication add kar sakte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is project me maine poora system banaya hai. ML part me sahi practice follow ki: time-based split, no leakage, class weights aur sahi metrics. Output useful hai kyunki risk ke saath reason, failure type aur recommended action milta hai. Aur system working hai: dashboard, database, API, maintenance workflow aur 46 tests. Gradient boosting model ne F1 0.897 diya aur real AI4I dataset par bhi pipeline chali. Dhanyavaad, ab aap questions pooch sakte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5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297680" cy="17373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EEF2F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4773168"/>
            <a:ext cx="5486400" cy="228600"/>
          </a:xfrm>
          <a:prstGeom prst="rect">
            <a:avLst/>
          </a:prstGeom>
          <a:noFill/>
          <a:ln/>
        </p:spPr>
        <p:txBody>
          <a:bodyPr wrap="square" lIns="0" tIns="0" rIns="0" bIns="0" rtlCol="0" anchor="ctr"/>
          <a:lstStyle/>
          <a:p>
            <a:pPr indent="0" marL="0">
              <a:buNone/>
            </a:pPr>
            <a:r>
              <a:rPr lang="en-US" sz="1000" dirty="0">
                <a:solidFill>
                  <a:srgbClr val="64748B"/>
                </a:solidFill>
              </a:rPr>
              <a:t>AI-Based Predictive Maintenance Platform  |  Gaurav Kumar</a:t>
            </a:r>
            <a:endParaRPr lang="en-US" sz="10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B15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4773168"/>
            <a:ext cx="5486400" cy="228600"/>
          </a:xfrm>
          <a:prstGeom prst="rect">
            <a:avLst/>
          </a:prstGeom>
          <a:noFill/>
          <a:ln/>
        </p:spPr>
        <p:txBody>
          <a:bodyPr wrap="square" lIns="0" tIns="0" rIns="0" bIns="0" rtlCol="0" anchor="ctr"/>
          <a:lstStyle/>
          <a:p>
            <a:pPr indent="0" marL="0">
              <a:buNone/>
            </a:pPr>
            <a:r>
              <a:rPr lang="en-US" sz="1000" dirty="0">
                <a:solidFill>
                  <a:srgbClr val="94A3B8"/>
                </a:solidFill>
              </a:rPr>
              <a:t>AI-Based Predictive Maintenance Platform  |  Gaurav Kumar</a:t>
            </a:r>
            <a:endParaRPr lang="en-US" sz="10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297680" cy="1737360"/>
          </a:xfrm>
          <a:prstGeom prst="rect">
            <a:avLst/>
          </a:prstGeom>
          <a:noFill/>
          <a:ln/>
        </p:spPr>
        <p:txBody>
          <a:bodyPr wrap="square" lIns="0" tIns="0" rIns="0" bIns="0" rtlCol="0" anchor="t"/>
          <a:lstStyle/>
          <a:p>
            <a:pPr algn="l" indent="0" marL="0">
              <a:buNone/>
            </a:pPr>
            <a:r>
              <a:rPr lang="en-US" sz="3400" b="1" dirty="0">
                <a:solidFill>
                  <a:schemeClr val="bg1"/>
                </a:solidFill>
              </a:rPr>
              <a:t>AI-Based Predictive Maintenance Platform</a:t>
            </a:r>
            <a:endParaRPr lang="en-US" sz="3400" dirty="0"/>
          </a:p>
        </p:txBody>
      </p:sp>
      <p:sp>
        <p:nvSpPr>
          <p:cNvPr id="3" name="Text 1"/>
          <p:cNvSpPr txBox="1"/>
          <p:nvPr/>
        </p:nvSpPr>
        <p:spPr>
          <a:xfrm>
            <a:off x="548640" y="64008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B.TECH MAJOR PROJECT  |  IT</a:t>
            </a:r>
            <a:endParaRPr lang="en-US" sz="1200" dirty="0"/>
          </a:p>
        </p:txBody>
      </p:sp>
      <p:sp>
        <p:nvSpPr>
          <p:cNvPr id="4" name="Text 2"/>
          <p:cNvSpPr txBox="1"/>
          <p:nvPr/>
        </p:nvSpPr>
        <p:spPr>
          <a:xfrm>
            <a:off x="548640" y="2971800"/>
            <a:ext cx="4206240" cy="822960"/>
          </a:xfrm>
          <a:prstGeom prst="rect">
            <a:avLst/>
          </a:prstGeom>
          <a:noFill/>
          <a:ln/>
        </p:spPr>
        <p:txBody>
          <a:bodyPr wrap="square" lIns="0" tIns="0" rIns="0" bIns="0" rtlCol="0" anchor="t"/>
          <a:lstStyle/>
          <a:p>
            <a:pPr indent="0" marL="0">
              <a:buNone/>
            </a:pPr>
            <a:r>
              <a:rPr lang="en-US" sz="1600" dirty="0">
                <a:solidFill>
                  <a:srgbClr val="CBD5E1"/>
                </a:solidFill>
                <a:latin typeface="Calibri" pitchFamily="34" charset="0"/>
                <a:ea typeface="Calibri" pitchFamily="34" charset="-122"/>
                <a:cs typeface="Calibri" pitchFamily="34" charset="-120"/>
              </a:rPr>
              <a:t>Machine failure prediction, anomaly detection and a maintenance workflow, built with machine learning and Flask</a:t>
            </a:r>
            <a:endParaRPr lang="en-US" sz="1600" dirty="0"/>
          </a:p>
        </p:txBody>
      </p:sp>
      <p:sp>
        <p:nvSpPr>
          <p:cNvPr id="5" name="Text 3"/>
          <p:cNvSpPr txBox="1"/>
          <p:nvPr/>
        </p:nvSpPr>
        <p:spPr>
          <a:xfrm>
            <a:off x="548640" y="4114800"/>
            <a:ext cx="4206240" cy="54864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Gaurav Kumar</a:t>
            </a:r>
            <a:endParaRPr lang="en-US" sz="1400" dirty="0"/>
          </a:p>
          <a:p>
            <a:pPr indent="0" marL="0">
              <a:buNone/>
            </a:pPr>
            <a:r>
              <a:rPr lang="en-US" sz="1400" dirty="0">
                <a:solidFill>
                  <a:srgbClr val="94A3B8"/>
                </a:solidFill>
                <a:latin typeface="Calibri" pitchFamily="34" charset="0"/>
                <a:ea typeface="Calibri" pitchFamily="34" charset="-122"/>
                <a:cs typeface="Calibri" pitchFamily="34" charset="-120"/>
              </a:rPr>
              <a:t>ITM Group of Institutions, Aligarh</a:t>
            </a:r>
            <a:endParaRPr lang="en-US" sz="1400" dirty="0"/>
          </a:p>
        </p:txBody>
      </p:sp>
      <p:pic>
        <p:nvPicPr>
          <p:cNvPr id="6" name="Image 0" descr="Dashboard screenshot">    </p:cNvPr>
          <p:cNvPicPr>
            <a:picLocks noChangeAspect="1"/>
          </p:cNvPicPr>
          <p:nvPr/>
        </p:nvPicPr>
        <p:blipFill>
          <a:blip r:embed="rId1"/>
          <a:stretch>
            <a:fillRect/>
          </a:stretch>
        </p:blipFill>
        <p:spPr>
          <a:xfrm>
            <a:off x="5029200" y="1234440"/>
            <a:ext cx="3657600" cy="2057400"/>
          </a:xfrm>
          <a:prstGeom prst="rect">
            <a:avLst/>
          </a:prstGeom>
          <a:effectLst>
            <a:outerShdw sx="100000" sy="100000" kx="0" ky="0" algn="bl" rotWithShape="0" blurRad="101600" dist="25400" dir="5400000">
              <a:srgbClr val="0B1530">
                <a:alpha val="12000"/>
              </a:srgbClr>
            </a:outerShdw>
          </a:effectLst>
        </p:spPr>
      </p:pic>
      <p:pic>
        <p:nvPicPr>
          <p:cNvPr id="7" name="Image 1" descr="Machine page screenshot">    </p:cNvPr>
          <p:cNvPicPr>
            <a:picLocks noChangeAspect="1"/>
          </p:cNvPicPr>
          <p:nvPr/>
        </p:nvPicPr>
        <p:blipFill>
          <a:blip r:embed="rId2"/>
          <a:stretch>
            <a:fillRect/>
          </a:stretch>
        </p:blipFill>
        <p:spPr>
          <a:xfrm>
            <a:off x="5577840" y="2745486"/>
            <a:ext cx="3291840" cy="1851660"/>
          </a:xfrm>
          <a:prstGeom prst="rect">
            <a:avLst/>
          </a:prstGeom>
          <a:effectLst>
            <a:outerShdw sx="100000" sy="100000" kx="0" ky="0" algn="bl" rotWithShape="0" blurRad="101600" dist="25400" dir="5400000">
              <a:srgbClr val="0B1530">
                <a:alpha val="12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Why predictive maintenance</a:t>
            </a:r>
            <a:endParaRPr lang="en-US" sz="3000" dirty="0"/>
          </a:p>
        </p:txBody>
      </p:sp>
      <p:sp>
        <p:nvSpPr>
          <p:cNvPr id="3" name="approach card 1"/>
          <p:cNvSpPr/>
          <p:nvPr/>
        </p:nvSpPr>
        <p:spPr>
          <a:xfrm>
            <a:off x="548640" y="1234440"/>
            <a:ext cx="4846320" cy="914400"/>
          </a:xfrm>
          <a:prstGeom prst="roundRect">
            <a:avLst>
              <a:gd name="adj" fmla="val 8000"/>
            </a:avLst>
          </a:prstGeom>
          <a:solidFill>
            <a:schemeClr val="bg1"/>
          </a:solidFill>
          <a:ln/>
          <a:effectLst>
            <a:outerShdw sx="100000" sy="100000" kx="0" ky="0" algn="bl" rotWithShape="0" blurRad="101600" dist="25400" dir="5400000">
              <a:srgbClr val="0B1530">
                <a:alpha val="12000"/>
              </a:srgbClr>
            </a:outerShdw>
          </a:effectLst>
        </p:spPr>
      </p:sp>
      <p:sp>
        <p:nvSpPr>
          <p:cNvPr id="4" name="icon circle"/>
          <p:cNvSpPr/>
          <p:nvPr/>
        </p:nvSpPr>
        <p:spPr>
          <a:xfrm>
            <a:off x="731520" y="1463040"/>
            <a:ext cx="457200" cy="457200"/>
          </a:xfrm>
          <a:prstGeom prst="ellipse">
            <a:avLst/>
          </a:prstGeom>
          <a:solidFill>
            <a:schemeClr val="accent6"/>
          </a:solidFill>
          <a:ln/>
        </p:spPr>
      </p:sp>
      <p:pic>
        <p:nvPicPr>
          <p:cNvPr id="5" name="Image 0" descr="FaTools">    </p:cNvPr>
          <p:cNvPicPr>
            <a:picLocks noChangeAspect="1"/>
          </p:cNvPicPr>
          <p:nvPr/>
        </p:nvPicPr>
        <p:blipFill>
          <a:blip r:embed="rId1"/>
          <a:stretch>
            <a:fillRect/>
          </a:stretch>
        </p:blipFill>
        <p:spPr>
          <a:xfrm>
            <a:off x="845820" y="1577340"/>
            <a:ext cx="228600" cy="228600"/>
          </a:xfrm>
          <a:prstGeom prst="rect">
            <a:avLst/>
          </a:prstGeom>
        </p:spPr>
      </p:pic>
      <p:sp>
        <p:nvSpPr>
          <p:cNvPr id="6" name="Text 3"/>
          <p:cNvSpPr txBox="1"/>
          <p:nvPr/>
        </p:nvSpPr>
        <p:spPr>
          <a:xfrm>
            <a:off x="1371600" y="1389888"/>
            <a:ext cx="3840480" cy="2743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Reactive</a:t>
            </a:r>
            <a:endParaRPr lang="en-US" sz="1600" dirty="0"/>
          </a:p>
        </p:txBody>
      </p:sp>
      <p:sp>
        <p:nvSpPr>
          <p:cNvPr id="7" name="Text 4"/>
          <p:cNvSpPr txBox="1"/>
          <p:nvPr/>
        </p:nvSpPr>
        <p:spPr>
          <a:xfrm>
            <a:off x="1371600" y="1691640"/>
            <a:ext cx="384048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Repair after the breakdown. Unplanned downtime.</a:t>
            </a:r>
            <a:endParaRPr lang="en-US" sz="1400" dirty="0"/>
          </a:p>
        </p:txBody>
      </p:sp>
      <p:sp>
        <p:nvSpPr>
          <p:cNvPr id="8" name="approach card 2"/>
          <p:cNvSpPr/>
          <p:nvPr/>
        </p:nvSpPr>
        <p:spPr>
          <a:xfrm>
            <a:off x="548640" y="2331720"/>
            <a:ext cx="4846320" cy="914400"/>
          </a:xfrm>
          <a:prstGeom prst="roundRect">
            <a:avLst>
              <a:gd name="adj" fmla="val 8000"/>
            </a:avLst>
          </a:prstGeom>
          <a:solidFill>
            <a:schemeClr val="bg1"/>
          </a:solidFill>
          <a:ln/>
          <a:effectLst>
            <a:outerShdw sx="100000" sy="100000" kx="0" ky="0" algn="bl" rotWithShape="0" blurRad="101600" dist="25400" dir="5400000">
              <a:srgbClr val="0B1530">
                <a:alpha val="12000"/>
              </a:srgbClr>
            </a:outerShdw>
          </a:effectLst>
        </p:spPr>
      </p:sp>
      <p:sp>
        <p:nvSpPr>
          <p:cNvPr id="9" name="icon circle"/>
          <p:cNvSpPr/>
          <p:nvPr/>
        </p:nvSpPr>
        <p:spPr>
          <a:xfrm>
            <a:off x="731520" y="2560320"/>
            <a:ext cx="457200" cy="457200"/>
          </a:xfrm>
          <a:prstGeom prst="ellipse">
            <a:avLst/>
          </a:prstGeom>
          <a:solidFill>
            <a:schemeClr val="accent6"/>
          </a:solidFill>
          <a:ln/>
        </p:spPr>
      </p:sp>
      <p:pic>
        <p:nvPicPr>
          <p:cNvPr id="10" name="Image 1" descr="FaClock">    </p:cNvPr>
          <p:cNvPicPr>
            <a:picLocks noChangeAspect="1"/>
          </p:cNvPicPr>
          <p:nvPr/>
        </p:nvPicPr>
        <p:blipFill>
          <a:blip r:embed="rId2"/>
          <a:stretch>
            <a:fillRect/>
          </a:stretch>
        </p:blipFill>
        <p:spPr>
          <a:xfrm>
            <a:off x="845820" y="2674620"/>
            <a:ext cx="228600" cy="228600"/>
          </a:xfrm>
          <a:prstGeom prst="rect">
            <a:avLst/>
          </a:prstGeom>
        </p:spPr>
      </p:pic>
      <p:sp>
        <p:nvSpPr>
          <p:cNvPr id="11" name="Text 7"/>
          <p:cNvSpPr txBox="1"/>
          <p:nvPr/>
        </p:nvSpPr>
        <p:spPr>
          <a:xfrm>
            <a:off x="1371600" y="2487168"/>
            <a:ext cx="3840480" cy="2743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Preventive</a:t>
            </a:r>
            <a:endParaRPr lang="en-US" sz="1600" dirty="0"/>
          </a:p>
        </p:txBody>
      </p:sp>
      <p:sp>
        <p:nvSpPr>
          <p:cNvPr id="12" name="Text 8"/>
          <p:cNvSpPr txBox="1"/>
          <p:nvPr/>
        </p:nvSpPr>
        <p:spPr>
          <a:xfrm>
            <a:off x="1371600" y="2788920"/>
            <a:ext cx="384048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Fixed schedule. Some checks are not needed.</a:t>
            </a:r>
            <a:endParaRPr lang="en-US" sz="1400" dirty="0"/>
          </a:p>
        </p:txBody>
      </p:sp>
      <p:sp>
        <p:nvSpPr>
          <p:cNvPr id="13" name="approach card 3"/>
          <p:cNvSpPr/>
          <p:nvPr/>
        </p:nvSpPr>
        <p:spPr>
          <a:xfrm>
            <a:off x="548640" y="3429000"/>
            <a:ext cx="4846320" cy="914400"/>
          </a:xfrm>
          <a:prstGeom prst="roundRect">
            <a:avLst>
              <a:gd name="adj" fmla="val 8000"/>
            </a:avLst>
          </a:prstGeom>
          <a:solidFill>
            <a:schemeClr val="bg1"/>
          </a:solidFill>
          <a:ln/>
          <a:effectLst>
            <a:outerShdw sx="100000" sy="100000" kx="0" ky="0" algn="bl" rotWithShape="0" blurRad="101600" dist="25400" dir="5400000">
              <a:srgbClr val="0B1530">
                <a:alpha val="12000"/>
              </a:srgbClr>
            </a:outerShdw>
          </a:effectLst>
        </p:spPr>
      </p:sp>
      <p:sp>
        <p:nvSpPr>
          <p:cNvPr id="14" name="icon circle"/>
          <p:cNvSpPr/>
          <p:nvPr/>
        </p:nvSpPr>
        <p:spPr>
          <a:xfrm>
            <a:off x="731520" y="3657600"/>
            <a:ext cx="457200" cy="457200"/>
          </a:xfrm>
          <a:prstGeom prst="ellipse">
            <a:avLst/>
          </a:prstGeom>
          <a:solidFill>
            <a:schemeClr val="accent1"/>
          </a:solidFill>
          <a:ln/>
        </p:spPr>
      </p:sp>
      <p:pic>
        <p:nvPicPr>
          <p:cNvPr id="15" name="Image 2" descr="FaBrain">    </p:cNvPr>
          <p:cNvPicPr>
            <a:picLocks noChangeAspect="1"/>
          </p:cNvPicPr>
          <p:nvPr/>
        </p:nvPicPr>
        <p:blipFill>
          <a:blip r:embed="rId3"/>
          <a:stretch>
            <a:fillRect/>
          </a:stretch>
        </p:blipFill>
        <p:spPr>
          <a:xfrm>
            <a:off x="845820" y="3771900"/>
            <a:ext cx="228600" cy="228600"/>
          </a:xfrm>
          <a:prstGeom prst="rect">
            <a:avLst/>
          </a:prstGeom>
        </p:spPr>
      </p:pic>
      <p:sp>
        <p:nvSpPr>
          <p:cNvPr id="16" name="Text 11"/>
          <p:cNvSpPr txBox="1"/>
          <p:nvPr/>
        </p:nvSpPr>
        <p:spPr>
          <a:xfrm>
            <a:off x="1371600" y="3584448"/>
            <a:ext cx="3840480" cy="2743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Predictive</a:t>
            </a:r>
            <a:endParaRPr lang="en-US" sz="1600" dirty="0"/>
          </a:p>
        </p:txBody>
      </p:sp>
      <p:sp>
        <p:nvSpPr>
          <p:cNvPr id="17" name="Text 12"/>
          <p:cNvSpPr txBox="1"/>
          <p:nvPr/>
        </p:nvSpPr>
        <p:spPr>
          <a:xfrm>
            <a:off x="1371600" y="3886200"/>
            <a:ext cx="384048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Use sensor data to act before the failure.</a:t>
            </a:r>
            <a:endParaRPr lang="en-US" sz="1400" dirty="0"/>
          </a:p>
        </p:txBody>
      </p:sp>
      <p:sp>
        <p:nvSpPr>
          <p:cNvPr id="18" name="stat card 1"/>
          <p:cNvSpPr/>
          <p:nvPr/>
        </p:nvSpPr>
        <p:spPr>
          <a:xfrm>
            <a:off x="5760720" y="1234440"/>
            <a:ext cx="2834640" cy="914400"/>
          </a:xfrm>
          <a:prstGeom prst="roundRect">
            <a:avLst>
              <a:gd name="adj" fmla="val 8000"/>
            </a:avLst>
          </a:prstGeom>
          <a:solidFill>
            <a:schemeClr val="tx1"/>
          </a:solidFill>
          <a:ln/>
          <a:effectLst>
            <a:outerShdw sx="100000" sy="100000" kx="0" ky="0" algn="bl" rotWithShape="0" blurRad="101600" dist="25400" dir="5400000">
              <a:srgbClr val="0B1530">
                <a:alpha val="12000"/>
              </a:srgbClr>
            </a:outerShdw>
          </a:effectLst>
        </p:spPr>
      </p:sp>
      <p:sp>
        <p:nvSpPr>
          <p:cNvPr id="19" name="Text 14"/>
          <p:cNvSpPr txBox="1"/>
          <p:nvPr/>
        </p:nvSpPr>
        <p:spPr>
          <a:xfrm>
            <a:off x="5943600" y="1325880"/>
            <a:ext cx="2468880" cy="50292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50</a:t>
            </a:r>
            <a:endParaRPr lang="en-US" sz="3200" dirty="0"/>
          </a:p>
        </p:txBody>
      </p:sp>
      <p:sp>
        <p:nvSpPr>
          <p:cNvPr id="20" name="Text 15"/>
          <p:cNvSpPr txBox="1"/>
          <p:nvPr/>
        </p:nvSpPr>
        <p:spPr>
          <a:xfrm>
            <a:off x="5943600" y="1828800"/>
            <a:ext cx="2468880" cy="27432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machines monitored</a:t>
            </a:r>
            <a:endParaRPr lang="en-US" sz="1300" dirty="0"/>
          </a:p>
        </p:txBody>
      </p:sp>
      <p:sp>
        <p:nvSpPr>
          <p:cNvPr id="21" name="stat card 2"/>
          <p:cNvSpPr/>
          <p:nvPr/>
        </p:nvSpPr>
        <p:spPr>
          <a:xfrm>
            <a:off x="5760720" y="2331720"/>
            <a:ext cx="2834640" cy="914400"/>
          </a:xfrm>
          <a:prstGeom prst="roundRect">
            <a:avLst>
              <a:gd name="adj" fmla="val 8000"/>
            </a:avLst>
          </a:prstGeom>
          <a:solidFill>
            <a:schemeClr val="tx1"/>
          </a:solidFill>
          <a:ln/>
          <a:effectLst>
            <a:outerShdw sx="100000" sy="100000" kx="0" ky="0" algn="bl" rotWithShape="0" blurRad="101600" dist="25400" dir="5400000">
              <a:srgbClr val="0B1530">
                <a:alpha val="12000"/>
              </a:srgbClr>
            </a:outerShdw>
          </a:effectLst>
        </p:spPr>
      </p:sp>
      <p:sp>
        <p:nvSpPr>
          <p:cNvPr id="22" name="Text 17"/>
          <p:cNvSpPr txBox="1"/>
          <p:nvPr/>
        </p:nvSpPr>
        <p:spPr>
          <a:xfrm>
            <a:off x="5943600" y="2423160"/>
            <a:ext cx="2468880" cy="50292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10,000</a:t>
            </a:r>
            <a:endParaRPr lang="en-US" sz="3200" dirty="0"/>
          </a:p>
        </p:txBody>
      </p:sp>
      <p:sp>
        <p:nvSpPr>
          <p:cNvPr id="23" name="Text 18"/>
          <p:cNvSpPr txBox="1"/>
          <p:nvPr/>
        </p:nvSpPr>
        <p:spPr>
          <a:xfrm>
            <a:off x="5943600" y="2926080"/>
            <a:ext cx="2468880" cy="27432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sensor readings</a:t>
            </a:r>
            <a:endParaRPr lang="en-US" sz="1300" dirty="0"/>
          </a:p>
        </p:txBody>
      </p:sp>
      <p:sp>
        <p:nvSpPr>
          <p:cNvPr id="24" name="stat card 3"/>
          <p:cNvSpPr/>
          <p:nvPr/>
        </p:nvSpPr>
        <p:spPr>
          <a:xfrm>
            <a:off x="5760720" y="3429000"/>
            <a:ext cx="2834640" cy="914400"/>
          </a:xfrm>
          <a:prstGeom prst="roundRect">
            <a:avLst>
              <a:gd name="adj" fmla="val 8000"/>
            </a:avLst>
          </a:prstGeom>
          <a:solidFill>
            <a:schemeClr val="tx1"/>
          </a:solidFill>
          <a:ln/>
          <a:effectLst>
            <a:outerShdw sx="100000" sy="100000" kx="0" ky="0" algn="bl" rotWithShape="0" blurRad="101600" dist="25400" dir="5400000">
              <a:srgbClr val="0B1530">
                <a:alpha val="12000"/>
              </a:srgbClr>
            </a:outerShdw>
          </a:effectLst>
        </p:spPr>
      </p:sp>
      <p:sp>
        <p:nvSpPr>
          <p:cNvPr id="25" name="Text 20"/>
          <p:cNvSpPr txBox="1"/>
          <p:nvPr/>
        </p:nvSpPr>
        <p:spPr>
          <a:xfrm>
            <a:off x="5943600" y="3520440"/>
            <a:ext cx="2468880" cy="50292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2.96%</a:t>
            </a:r>
            <a:endParaRPr lang="en-US" sz="3200" dirty="0"/>
          </a:p>
        </p:txBody>
      </p:sp>
      <p:sp>
        <p:nvSpPr>
          <p:cNvPr id="26" name="Text 21"/>
          <p:cNvSpPr txBox="1"/>
          <p:nvPr/>
        </p:nvSpPr>
        <p:spPr>
          <a:xfrm>
            <a:off x="5943600" y="4023360"/>
            <a:ext cx="2468880" cy="27432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readings are failures</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Project objectives</a:t>
            </a:r>
            <a:endParaRPr lang="en-US" sz="3000" dirty="0"/>
          </a:p>
        </p:txBody>
      </p:sp>
      <p:sp>
        <p:nvSpPr>
          <p:cNvPr id="3" name="objective card 1"/>
          <p:cNvSpPr/>
          <p:nvPr/>
        </p:nvSpPr>
        <p:spPr>
          <a:xfrm>
            <a:off x="548640" y="1234440"/>
            <a:ext cx="2532888" cy="1508760"/>
          </a:xfrm>
          <a:prstGeom prst="roundRect">
            <a:avLst>
              <a:gd name="adj" fmla="val 4848"/>
            </a:avLst>
          </a:prstGeom>
          <a:solidFill>
            <a:schemeClr val="bg1"/>
          </a:solidFill>
          <a:ln/>
          <a:effectLst>
            <a:outerShdw sx="100000" sy="100000" kx="0" ky="0" algn="bl" rotWithShape="0" blurRad="101600" dist="25400" dir="5400000">
              <a:srgbClr val="0B1530">
                <a:alpha val="12000"/>
              </a:srgbClr>
            </a:outerShdw>
          </a:effectLst>
        </p:spPr>
      </p:sp>
      <p:sp>
        <p:nvSpPr>
          <p:cNvPr id="4" name="icon circle"/>
          <p:cNvSpPr/>
          <p:nvPr/>
        </p:nvSpPr>
        <p:spPr>
          <a:xfrm>
            <a:off x="731520" y="1417320"/>
            <a:ext cx="457200" cy="457200"/>
          </a:xfrm>
          <a:prstGeom prst="ellipse">
            <a:avLst/>
          </a:prstGeom>
          <a:solidFill>
            <a:schemeClr val="accent1"/>
          </a:solidFill>
          <a:ln/>
        </p:spPr>
      </p:sp>
      <p:pic>
        <p:nvPicPr>
          <p:cNvPr id="5" name="Image 0" descr="FaBullseye">    </p:cNvPr>
          <p:cNvPicPr>
            <a:picLocks noChangeAspect="1"/>
          </p:cNvPicPr>
          <p:nvPr/>
        </p:nvPicPr>
        <p:blipFill>
          <a:blip r:embed="rId1"/>
          <a:stretch>
            <a:fillRect/>
          </a:stretch>
        </p:blipFill>
        <p:spPr>
          <a:xfrm>
            <a:off x="845820" y="1531620"/>
            <a:ext cx="228600" cy="228600"/>
          </a:xfrm>
          <a:prstGeom prst="rect">
            <a:avLst/>
          </a:prstGeom>
        </p:spPr>
      </p:pic>
      <p:sp>
        <p:nvSpPr>
          <p:cNvPr id="6" name="Text 3"/>
          <p:cNvSpPr txBox="1"/>
          <p:nvPr/>
        </p:nvSpPr>
        <p:spPr>
          <a:xfrm>
            <a:off x="731520" y="1984248"/>
            <a:ext cx="219456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Predict failure risk</a:t>
            </a:r>
            <a:endParaRPr lang="en-US" sz="1500" dirty="0"/>
          </a:p>
        </p:txBody>
      </p:sp>
      <p:sp>
        <p:nvSpPr>
          <p:cNvPr id="7" name="Text 4"/>
          <p:cNvSpPr txBox="1"/>
          <p:nvPr/>
        </p:nvSpPr>
        <p:spPr>
          <a:xfrm>
            <a:off x="731520" y="2258568"/>
            <a:ext cx="2194560" cy="4572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Probability for every machine, shown as LOW, MEDIUM or HIGH</a:t>
            </a:r>
            <a:endParaRPr lang="en-US" sz="1100" dirty="0"/>
          </a:p>
        </p:txBody>
      </p:sp>
      <p:sp>
        <p:nvSpPr>
          <p:cNvPr id="8" name="objective card 2"/>
          <p:cNvSpPr/>
          <p:nvPr/>
        </p:nvSpPr>
        <p:spPr>
          <a:xfrm>
            <a:off x="3264408" y="1234440"/>
            <a:ext cx="2532888" cy="1508760"/>
          </a:xfrm>
          <a:prstGeom prst="roundRect">
            <a:avLst>
              <a:gd name="adj" fmla="val 4848"/>
            </a:avLst>
          </a:prstGeom>
          <a:solidFill>
            <a:schemeClr val="bg1"/>
          </a:solidFill>
          <a:ln/>
          <a:effectLst>
            <a:outerShdw sx="100000" sy="100000" kx="0" ky="0" algn="bl" rotWithShape="0" blurRad="101600" dist="25400" dir="5400000">
              <a:srgbClr val="0B1530">
                <a:alpha val="12000"/>
              </a:srgbClr>
            </a:outerShdw>
          </a:effectLst>
        </p:spPr>
      </p:sp>
      <p:sp>
        <p:nvSpPr>
          <p:cNvPr id="9" name="icon circle"/>
          <p:cNvSpPr/>
          <p:nvPr/>
        </p:nvSpPr>
        <p:spPr>
          <a:xfrm>
            <a:off x="3447288" y="1417320"/>
            <a:ext cx="457200" cy="457200"/>
          </a:xfrm>
          <a:prstGeom prst="ellipse">
            <a:avLst/>
          </a:prstGeom>
          <a:solidFill>
            <a:schemeClr val="accent1"/>
          </a:solidFill>
          <a:ln/>
        </p:spPr>
      </p:sp>
      <p:pic>
        <p:nvPicPr>
          <p:cNvPr id="10" name="Image 1" descr="FaChartLine">    </p:cNvPr>
          <p:cNvPicPr>
            <a:picLocks noChangeAspect="1"/>
          </p:cNvPicPr>
          <p:nvPr/>
        </p:nvPicPr>
        <p:blipFill>
          <a:blip r:embed="rId2"/>
          <a:stretch>
            <a:fillRect/>
          </a:stretch>
        </p:blipFill>
        <p:spPr>
          <a:xfrm>
            <a:off x="3561588" y="1531620"/>
            <a:ext cx="228600" cy="228600"/>
          </a:xfrm>
          <a:prstGeom prst="rect">
            <a:avLst/>
          </a:prstGeom>
        </p:spPr>
      </p:pic>
      <p:sp>
        <p:nvSpPr>
          <p:cNvPr id="11" name="Text 7"/>
          <p:cNvSpPr txBox="1"/>
          <p:nvPr/>
        </p:nvSpPr>
        <p:spPr>
          <a:xfrm>
            <a:off x="3447288" y="1984248"/>
            <a:ext cx="219456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Compare models</a:t>
            </a:r>
            <a:endParaRPr lang="en-US" sz="1500" dirty="0"/>
          </a:p>
        </p:txBody>
      </p:sp>
      <p:sp>
        <p:nvSpPr>
          <p:cNvPr id="12" name="Text 8"/>
          <p:cNvSpPr txBox="1"/>
          <p:nvPr/>
        </p:nvSpPr>
        <p:spPr>
          <a:xfrm>
            <a:off x="3447288" y="2258568"/>
            <a:ext cx="2194560" cy="4572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Logistic Regression, Decision Tree, Random Forest and gradient boosting</a:t>
            </a:r>
            <a:endParaRPr lang="en-US" sz="1100" dirty="0"/>
          </a:p>
        </p:txBody>
      </p:sp>
      <p:sp>
        <p:nvSpPr>
          <p:cNvPr id="13" name="objective card 3"/>
          <p:cNvSpPr/>
          <p:nvPr/>
        </p:nvSpPr>
        <p:spPr>
          <a:xfrm>
            <a:off x="5980176" y="1234440"/>
            <a:ext cx="2532888" cy="1508760"/>
          </a:xfrm>
          <a:prstGeom prst="roundRect">
            <a:avLst>
              <a:gd name="adj" fmla="val 4848"/>
            </a:avLst>
          </a:prstGeom>
          <a:solidFill>
            <a:schemeClr val="bg1"/>
          </a:solidFill>
          <a:ln/>
          <a:effectLst>
            <a:outerShdw sx="100000" sy="100000" kx="0" ky="0" algn="bl" rotWithShape="0" blurRad="101600" dist="25400" dir="5400000">
              <a:srgbClr val="0B1530">
                <a:alpha val="12000"/>
              </a:srgbClr>
            </a:outerShdw>
          </a:effectLst>
        </p:spPr>
      </p:sp>
      <p:sp>
        <p:nvSpPr>
          <p:cNvPr id="14" name="icon circle"/>
          <p:cNvSpPr/>
          <p:nvPr/>
        </p:nvSpPr>
        <p:spPr>
          <a:xfrm>
            <a:off x="6163056" y="1417320"/>
            <a:ext cx="457200" cy="457200"/>
          </a:xfrm>
          <a:prstGeom prst="ellipse">
            <a:avLst/>
          </a:prstGeom>
          <a:solidFill>
            <a:schemeClr val="accent1"/>
          </a:solidFill>
          <a:ln/>
        </p:spPr>
      </p:sp>
      <p:pic>
        <p:nvPicPr>
          <p:cNvPr id="15" name="Image 2" descr="FaExclamationTriangle">    </p:cNvPr>
          <p:cNvPicPr>
            <a:picLocks noChangeAspect="1"/>
          </p:cNvPicPr>
          <p:nvPr/>
        </p:nvPicPr>
        <p:blipFill>
          <a:blip r:embed="rId3"/>
          <a:stretch>
            <a:fillRect/>
          </a:stretch>
        </p:blipFill>
        <p:spPr>
          <a:xfrm>
            <a:off x="6277356" y="1531620"/>
            <a:ext cx="228600" cy="228600"/>
          </a:xfrm>
          <a:prstGeom prst="rect">
            <a:avLst/>
          </a:prstGeom>
        </p:spPr>
      </p:pic>
      <p:sp>
        <p:nvSpPr>
          <p:cNvPr id="16" name="Text 11"/>
          <p:cNvSpPr txBox="1"/>
          <p:nvPr/>
        </p:nvSpPr>
        <p:spPr>
          <a:xfrm>
            <a:off x="6163056" y="1984248"/>
            <a:ext cx="219456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Detect anomalies</a:t>
            </a:r>
            <a:endParaRPr lang="en-US" sz="1500" dirty="0"/>
          </a:p>
        </p:txBody>
      </p:sp>
      <p:sp>
        <p:nvSpPr>
          <p:cNvPr id="17" name="Text 12"/>
          <p:cNvSpPr txBox="1"/>
          <p:nvPr/>
        </p:nvSpPr>
        <p:spPr>
          <a:xfrm>
            <a:off x="6163056" y="2258568"/>
            <a:ext cx="2194560" cy="4572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Isolation Forest flags unusual behaviour without labels</a:t>
            </a:r>
            <a:endParaRPr lang="en-US" sz="1100" dirty="0"/>
          </a:p>
        </p:txBody>
      </p:sp>
      <p:sp>
        <p:nvSpPr>
          <p:cNvPr id="18" name="objective card 4"/>
          <p:cNvSpPr/>
          <p:nvPr/>
        </p:nvSpPr>
        <p:spPr>
          <a:xfrm>
            <a:off x="548640" y="2926080"/>
            <a:ext cx="2532888" cy="1508760"/>
          </a:xfrm>
          <a:prstGeom prst="roundRect">
            <a:avLst>
              <a:gd name="adj" fmla="val 4848"/>
            </a:avLst>
          </a:prstGeom>
          <a:solidFill>
            <a:schemeClr val="bg1"/>
          </a:solidFill>
          <a:ln/>
          <a:effectLst>
            <a:outerShdw sx="100000" sy="100000" kx="0" ky="0" algn="bl" rotWithShape="0" blurRad="101600" dist="25400" dir="5400000">
              <a:srgbClr val="0B1530">
                <a:alpha val="12000"/>
              </a:srgbClr>
            </a:outerShdw>
          </a:effectLst>
        </p:spPr>
      </p:sp>
      <p:sp>
        <p:nvSpPr>
          <p:cNvPr id="19" name="icon circle"/>
          <p:cNvSpPr/>
          <p:nvPr/>
        </p:nvSpPr>
        <p:spPr>
          <a:xfrm>
            <a:off x="731520" y="3108960"/>
            <a:ext cx="457200" cy="457200"/>
          </a:xfrm>
          <a:prstGeom prst="ellipse">
            <a:avLst/>
          </a:prstGeom>
          <a:solidFill>
            <a:schemeClr val="accent1"/>
          </a:solidFill>
          <a:ln/>
        </p:spPr>
      </p:sp>
      <p:pic>
        <p:nvPicPr>
          <p:cNvPr id="20" name="Image 3" descr="FaClock">    </p:cNvPr>
          <p:cNvPicPr>
            <a:picLocks noChangeAspect="1"/>
          </p:cNvPicPr>
          <p:nvPr/>
        </p:nvPicPr>
        <p:blipFill>
          <a:blip r:embed="rId4"/>
          <a:stretch>
            <a:fillRect/>
          </a:stretch>
        </p:blipFill>
        <p:spPr>
          <a:xfrm>
            <a:off x="845820" y="3223260"/>
            <a:ext cx="228600" cy="228600"/>
          </a:xfrm>
          <a:prstGeom prst="rect">
            <a:avLst/>
          </a:prstGeom>
        </p:spPr>
      </p:pic>
      <p:sp>
        <p:nvSpPr>
          <p:cNvPr id="21" name="Text 15"/>
          <p:cNvSpPr txBox="1"/>
          <p:nvPr/>
        </p:nvSpPr>
        <p:spPr>
          <a:xfrm>
            <a:off x="731520" y="3675888"/>
            <a:ext cx="219456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Estimate type and RUL</a:t>
            </a:r>
            <a:endParaRPr lang="en-US" sz="1500" dirty="0"/>
          </a:p>
        </p:txBody>
      </p:sp>
      <p:sp>
        <p:nvSpPr>
          <p:cNvPr id="22" name="Text 16"/>
          <p:cNvSpPr txBox="1"/>
          <p:nvPr/>
        </p:nvSpPr>
        <p:spPr>
          <a:xfrm>
            <a:off x="731520" y="3950208"/>
            <a:ext cx="2194560" cy="4572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Likely failure type and remaining useful life</a:t>
            </a:r>
            <a:endParaRPr lang="en-US" sz="1100" dirty="0"/>
          </a:p>
        </p:txBody>
      </p:sp>
      <p:sp>
        <p:nvSpPr>
          <p:cNvPr id="23" name="objective card 5"/>
          <p:cNvSpPr/>
          <p:nvPr/>
        </p:nvSpPr>
        <p:spPr>
          <a:xfrm>
            <a:off x="3264408" y="2926080"/>
            <a:ext cx="2532888" cy="1508760"/>
          </a:xfrm>
          <a:prstGeom prst="roundRect">
            <a:avLst>
              <a:gd name="adj" fmla="val 4848"/>
            </a:avLst>
          </a:prstGeom>
          <a:solidFill>
            <a:schemeClr val="bg1"/>
          </a:solidFill>
          <a:ln/>
          <a:effectLst>
            <a:outerShdw sx="100000" sy="100000" kx="0" ky="0" algn="bl" rotWithShape="0" blurRad="101600" dist="25400" dir="5400000">
              <a:srgbClr val="0B1530">
                <a:alpha val="12000"/>
              </a:srgbClr>
            </a:outerShdw>
          </a:effectLst>
        </p:spPr>
      </p:sp>
      <p:sp>
        <p:nvSpPr>
          <p:cNvPr id="24" name="icon circle"/>
          <p:cNvSpPr/>
          <p:nvPr/>
        </p:nvSpPr>
        <p:spPr>
          <a:xfrm>
            <a:off x="3447288" y="3108960"/>
            <a:ext cx="457200" cy="457200"/>
          </a:xfrm>
          <a:prstGeom prst="ellipse">
            <a:avLst/>
          </a:prstGeom>
          <a:solidFill>
            <a:schemeClr val="accent1"/>
          </a:solidFill>
          <a:ln/>
        </p:spPr>
      </p:sp>
      <p:pic>
        <p:nvPicPr>
          <p:cNvPr id="25" name="Image 4" descr="FaServer">    </p:cNvPr>
          <p:cNvPicPr>
            <a:picLocks noChangeAspect="1"/>
          </p:cNvPicPr>
          <p:nvPr/>
        </p:nvPicPr>
        <p:blipFill>
          <a:blip r:embed="rId5"/>
          <a:stretch>
            <a:fillRect/>
          </a:stretch>
        </p:blipFill>
        <p:spPr>
          <a:xfrm>
            <a:off x="3561588" y="3223260"/>
            <a:ext cx="228600" cy="228600"/>
          </a:xfrm>
          <a:prstGeom prst="rect">
            <a:avLst/>
          </a:prstGeom>
        </p:spPr>
      </p:pic>
      <p:sp>
        <p:nvSpPr>
          <p:cNvPr id="26" name="Text 19"/>
          <p:cNvSpPr txBox="1"/>
          <p:nvPr/>
        </p:nvSpPr>
        <p:spPr>
          <a:xfrm>
            <a:off x="3447288" y="3675888"/>
            <a:ext cx="219456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Web dashboard and API</a:t>
            </a:r>
            <a:endParaRPr lang="en-US" sz="1500" dirty="0"/>
          </a:p>
        </p:txBody>
      </p:sp>
      <p:sp>
        <p:nvSpPr>
          <p:cNvPr id="27" name="Text 20"/>
          <p:cNvSpPr txBox="1"/>
          <p:nvPr/>
        </p:nvSpPr>
        <p:spPr>
          <a:xfrm>
            <a:off x="3447288" y="3950208"/>
            <a:ext cx="2194560" cy="4572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Flask app with database, 9 pages and REST endpoints</a:t>
            </a:r>
            <a:endParaRPr lang="en-US" sz="1100" dirty="0"/>
          </a:p>
        </p:txBody>
      </p:sp>
      <p:sp>
        <p:nvSpPr>
          <p:cNvPr id="28" name="objective card 6"/>
          <p:cNvSpPr/>
          <p:nvPr/>
        </p:nvSpPr>
        <p:spPr>
          <a:xfrm>
            <a:off x="5980176" y="2926080"/>
            <a:ext cx="2532888" cy="1508760"/>
          </a:xfrm>
          <a:prstGeom prst="roundRect">
            <a:avLst>
              <a:gd name="adj" fmla="val 4848"/>
            </a:avLst>
          </a:prstGeom>
          <a:solidFill>
            <a:schemeClr val="bg1"/>
          </a:solidFill>
          <a:ln/>
          <a:effectLst>
            <a:outerShdw sx="100000" sy="100000" kx="0" ky="0" algn="bl" rotWithShape="0" blurRad="101600" dist="25400" dir="5400000">
              <a:srgbClr val="0B1530">
                <a:alpha val="12000"/>
              </a:srgbClr>
            </a:outerShdw>
          </a:effectLst>
        </p:spPr>
      </p:sp>
      <p:sp>
        <p:nvSpPr>
          <p:cNvPr id="29" name="icon circle"/>
          <p:cNvSpPr/>
          <p:nvPr/>
        </p:nvSpPr>
        <p:spPr>
          <a:xfrm>
            <a:off x="6163056" y="3108960"/>
            <a:ext cx="457200" cy="457200"/>
          </a:xfrm>
          <a:prstGeom prst="ellipse">
            <a:avLst/>
          </a:prstGeom>
          <a:solidFill>
            <a:schemeClr val="accent1"/>
          </a:solidFill>
          <a:ln/>
        </p:spPr>
      </p:sp>
      <p:pic>
        <p:nvPicPr>
          <p:cNvPr id="30" name="Image 5" descr="FaShieldAlt">    </p:cNvPr>
          <p:cNvPicPr>
            <a:picLocks noChangeAspect="1"/>
          </p:cNvPicPr>
          <p:nvPr/>
        </p:nvPicPr>
        <p:blipFill>
          <a:blip r:embed="rId6"/>
          <a:stretch>
            <a:fillRect/>
          </a:stretch>
        </p:blipFill>
        <p:spPr>
          <a:xfrm>
            <a:off x="6277356" y="3223260"/>
            <a:ext cx="228600" cy="228600"/>
          </a:xfrm>
          <a:prstGeom prst="rect">
            <a:avLst/>
          </a:prstGeom>
        </p:spPr>
      </p:pic>
      <p:sp>
        <p:nvSpPr>
          <p:cNvPr id="31" name="Text 23"/>
          <p:cNvSpPr txBox="1"/>
          <p:nvPr/>
        </p:nvSpPr>
        <p:spPr>
          <a:xfrm>
            <a:off x="6163056" y="3675888"/>
            <a:ext cx="219456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Test and be honest</a:t>
            </a:r>
            <a:endParaRPr lang="en-US" sz="1500" dirty="0"/>
          </a:p>
        </p:txBody>
      </p:sp>
      <p:sp>
        <p:nvSpPr>
          <p:cNvPr id="32" name="Text 24"/>
          <p:cNvSpPr txBox="1"/>
          <p:nvPr/>
        </p:nvSpPr>
        <p:spPr>
          <a:xfrm>
            <a:off x="6163056" y="3950208"/>
            <a:ext cx="2194560" cy="4572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46 automated tests and clearly stated limitations</a:t>
            </a:r>
            <a:endParaRPr lang="en-US" sz="11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System architecture</a:t>
            </a:r>
            <a:endParaRPr lang="en-US" sz="3000" dirty="0"/>
          </a:p>
        </p:txBody>
      </p:sp>
      <p:sp>
        <p:nvSpPr>
          <p:cNvPr id="3" name="diagram card"/>
          <p:cNvSpPr/>
          <p:nvPr/>
        </p:nvSpPr>
        <p:spPr>
          <a:xfrm>
            <a:off x="548640" y="1143000"/>
            <a:ext cx="4480560" cy="3474720"/>
          </a:xfrm>
          <a:prstGeom prst="roundRect">
            <a:avLst>
              <a:gd name="adj" fmla="val 2105"/>
            </a:avLst>
          </a:prstGeom>
          <a:solidFill>
            <a:schemeClr val="bg1"/>
          </a:solidFill>
          <a:ln/>
          <a:effectLst>
            <a:outerShdw sx="100000" sy="100000" kx="0" ky="0" algn="bl" rotWithShape="0" blurRad="101600" dist="25400" dir="5400000">
              <a:srgbClr val="0B1530">
                <a:alpha val="12000"/>
              </a:srgbClr>
            </a:outerShdw>
          </a:effectLst>
        </p:spPr>
      </p:sp>
      <p:pic>
        <p:nvPicPr>
          <p:cNvPr id="4" name="Image 0" descr="Architecture diagram">    </p:cNvPr>
          <p:cNvPicPr>
            <a:picLocks noChangeAspect="1"/>
          </p:cNvPicPr>
          <p:nvPr/>
        </p:nvPicPr>
        <p:blipFill>
          <a:blip r:embed="rId1"/>
          <a:stretch>
            <a:fillRect/>
          </a:stretch>
        </p:blipFill>
        <p:spPr>
          <a:xfrm>
            <a:off x="685800" y="1531529"/>
            <a:ext cx="4206240" cy="2697663"/>
          </a:xfrm>
          <a:prstGeom prst="rect">
            <a:avLst/>
          </a:prstGeom>
          <a:effectLst>
            <a:outerShdw sx="100000" sy="100000" kx="0" ky="0" algn="bl" rotWithShape="0" blurRad="101600" dist="25400" dir="5400000">
              <a:srgbClr val="0B1530">
                <a:alpha val="12000"/>
              </a:srgbClr>
            </a:outerShdw>
          </a:effectLst>
        </p:spPr>
      </p:pic>
      <p:sp>
        <p:nvSpPr>
          <p:cNvPr id="5" name="layer card 1"/>
          <p:cNvSpPr/>
          <p:nvPr/>
        </p:nvSpPr>
        <p:spPr>
          <a:xfrm>
            <a:off x="5303520" y="1143000"/>
            <a:ext cx="3291840" cy="777240"/>
          </a:xfrm>
          <a:prstGeom prst="roundRect">
            <a:avLst>
              <a:gd name="adj" fmla="val 9412"/>
            </a:avLst>
          </a:prstGeom>
          <a:solidFill>
            <a:schemeClr val="bg1"/>
          </a:solidFill>
          <a:ln/>
          <a:effectLst>
            <a:outerShdw sx="100000" sy="100000" kx="0" ky="0" algn="bl" rotWithShape="0" blurRad="101600" dist="25400" dir="5400000">
              <a:srgbClr val="0B1530">
                <a:alpha val="12000"/>
              </a:srgbClr>
            </a:outerShdw>
          </a:effectLst>
        </p:spPr>
      </p:sp>
      <p:sp>
        <p:nvSpPr>
          <p:cNvPr id="6" name="Text 3"/>
          <p:cNvSpPr txBox="1"/>
          <p:nvPr/>
        </p:nvSpPr>
        <p:spPr>
          <a:xfrm>
            <a:off x="5486400" y="1234440"/>
            <a:ext cx="2926080" cy="256032"/>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Presentation</a:t>
            </a:r>
            <a:endParaRPr lang="en-US" sz="1500" dirty="0"/>
          </a:p>
        </p:txBody>
      </p:sp>
      <p:sp>
        <p:nvSpPr>
          <p:cNvPr id="7" name="Text 4"/>
          <p:cNvSpPr txBox="1"/>
          <p:nvPr/>
        </p:nvSpPr>
        <p:spPr>
          <a:xfrm>
            <a:off x="5486400" y="1508760"/>
            <a:ext cx="2971800" cy="36576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Flask templates, inline SVG charts, JSON API</a:t>
            </a:r>
            <a:endParaRPr lang="en-US" sz="1200" dirty="0"/>
          </a:p>
        </p:txBody>
      </p:sp>
      <p:sp>
        <p:nvSpPr>
          <p:cNvPr id="8" name="layer card 2"/>
          <p:cNvSpPr/>
          <p:nvPr/>
        </p:nvSpPr>
        <p:spPr>
          <a:xfrm>
            <a:off x="5303520" y="2029968"/>
            <a:ext cx="3291840" cy="777240"/>
          </a:xfrm>
          <a:prstGeom prst="roundRect">
            <a:avLst>
              <a:gd name="adj" fmla="val 9412"/>
            </a:avLst>
          </a:prstGeom>
          <a:solidFill>
            <a:schemeClr val="bg1"/>
          </a:solidFill>
          <a:ln/>
          <a:effectLst>
            <a:outerShdw sx="100000" sy="100000" kx="0" ky="0" algn="bl" rotWithShape="0" blurRad="101600" dist="25400" dir="5400000">
              <a:srgbClr val="0B1530">
                <a:alpha val="12000"/>
              </a:srgbClr>
            </a:outerShdw>
          </a:effectLst>
        </p:spPr>
      </p:sp>
      <p:sp>
        <p:nvSpPr>
          <p:cNvPr id="9" name="Text 6"/>
          <p:cNvSpPr txBox="1"/>
          <p:nvPr/>
        </p:nvSpPr>
        <p:spPr>
          <a:xfrm>
            <a:off x="5486400" y="2121408"/>
            <a:ext cx="2926080" cy="256032"/>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Application</a:t>
            </a:r>
            <a:endParaRPr lang="en-US" sz="1500" dirty="0"/>
          </a:p>
        </p:txBody>
      </p:sp>
      <p:sp>
        <p:nvSpPr>
          <p:cNvPr id="10" name="Text 7"/>
          <p:cNvSpPr txBox="1"/>
          <p:nvPr/>
        </p:nvSpPr>
        <p:spPr>
          <a:xfrm>
            <a:off x="5486400" y="2395728"/>
            <a:ext cx="2971800" cy="36576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Validation, risk rules, explanation, maintenance workflow</a:t>
            </a:r>
            <a:endParaRPr lang="en-US" sz="1200" dirty="0"/>
          </a:p>
        </p:txBody>
      </p:sp>
      <p:sp>
        <p:nvSpPr>
          <p:cNvPr id="11" name="layer card 3"/>
          <p:cNvSpPr/>
          <p:nvPr/>
        </p:nvSpPr>
        <p:spPr>
          <a:xfrm>
            <a:off x="5303520" y="2916936"/>
            <a:ext cx="3291840" cy="777240"/>
          </a:xfrm>
          <a:prstGeom prst="roundRect">
            <a:avLst>
              <a:gd name="adj" fmla="val 9412"/>
            </a:avLst>
          </a:prstGeom>
          <a:solidFill>
            <a:schemeClr val="bg1"/>
          </a:solidFill>
          <a:ln/>
          <a:effectLst>
            <a:outerShdw sx="100000" sy="100000" kx="0" ky="0" algn="bl" rotWithShape="0" blurRad="101600" dist="25400" dir="5400000">
              <a:srgbClr val="0B1530">
                <a:alpha val="12000"/>
              </a:srgbClr>
            </a:outerShdw>
          </a:effectLst>
        </p:spPr>
      </p:sp>
      <p:sp>
        <p:nvSpPr>
          <p:cNvPr id="12" name="Text 9"/>
          <p:cNvSpPr txBox="1"/>
          <p:nvPr/>
        </p:nvSpPr>
        <p:spPr>
          <a:xfrm>
            <a:off x="5486400" y="3008376"/>
            <a:ext cx="2926080" cy="256032"/>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ML</a:t>
            </a:r>
            <a:endParaRPr lang="en-US" sz="1500" dirty="0"/>
          </a:p>
        </p:txBody>
      </p:sp>
      <p:sp>
        <p:nvSpPr>
          <p:cNvPr id="13" name="Text 10"/>
          <p:cNvSpPr txBox="1"/>
          <p:nvPr/>
        </p:nvSpPr>
        <p:spPr>
          <a:xfrm>
            <a:off x="5486400" y="3282696"/>
            <a:ext cx="2971800" cy="36576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Training pipeline and saved model file</a:t>
            </a:r>
            <a:endParaRPr lang="en-US" sz="1200" dirty="0"/>
          </a:p>
        </p:txBody>
      </p:sp>
      <p:sp>
        <p:nvSpPr>
          <p:cNvPr id="14" name="layer card 4"/>
          <p:cNvSpPr/>
          <p:nvPr/>
        </p:nvSpPr>
        <p:spPr>
          <a:xfrm>
            <a:off x="5303520" y="3803904"/>
            <a:ext cx="3291840" cy="777240"/>
          </a:xfrm>
          <a:prstGeom prst="roundRect">
            <a:avLst>
              <a:gd name="adj" fmla="val 9412"/>
            </a:avLst>
          </a:prstGeom>
          <a:solidFill>
            <a:schemeClr val="bg1"/>
          </a:solidFill>
          <a:ln/>
          <a:effectLst>
            <a:outerShdw sx="100000" sy="100000" kx="0" ky="0" algn="bl" rotWithShape="0" blurRad="101600" dist="25400" dir="5400000">
              <a:srgbClr val="0B1530">
                <a:alpha val="12000"/>
              </a:srgbClr>
            </a:outerShdw>
          </a:effectLst>
        </p:spPr>
      </p:sp>
      <p:sp>
        <p:nvSpPr>
          <p:cNvPr id="15" name="Text 12"/>
          <p:cNvSpPr txBox="1"/>
          <p:nvPr/>
        </p:nvSpPr>
        <p:spPr>
          <a:xfrm>
            <a:off x="5486400" y="3895344"/>
            <a:ext cx="2926080" cy="256032"/>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Data</a:t>
            </a:r>
            <a:endParaRPr lang="en-US" sz="1500" dirty="0"/>
          </a:p>
        </p:txBody>
      </p:sp>
      <p:sp>
        <p:nvSpPr>
          <p:cNvPr id="16" name="Text 13"/>
          <p:cNvSpPr txBox="1"/>
          <p:nvPr/>
        </p:nvSpPr>
        <p:spPr>
          <a:xfrm>
            <a:off x="5486400" y="4169664"/>
            <a:ext cx="2971800" cy="36576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SQLite with 7 tables and CSV datasets</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Machine learning pipeline</a:t>
            </a:r>
            <a:endParaRPr lang="en-US" sz="3000" dirty="0"/>
          </a:p>
        </p:txBody>
      </p:sp>
      <p:sp>
        <p:nvSpPr>
          <p:cNvPr id="3" name="pipeline card"/>
          <p:cNvSpPr/>
          <p:nvPr/>
        </p:nvSpPr>
        <p:spPr>
          <a:xfrm>
            <a:off x="548640" y="1143000"/>
            <a:ext cx="8046720" cy="3429000"/>
          </a:xfrm>
          <a:prstGeom prst="roundRect">
            <a:avLst>
              <a:gd name="adj" fmla="val 2133"/>
            </a:avLst>
          </a:prstGeom>
          <a:solidFill>
            <a:schemeClr val="bg1"/>
          </a:solidFill>
          <a:ln/>
          <a:effectLst>
            <a:outerShdw sx="100000" sy="100000" kx="0" ky="0" algn="bl" rotWithShape="0" blurRad="101600" dist="25400" dir="5400000">
              <a:srgbClr val="0B1530">
                <a:alpha val="12000"/>
              </a:srgbClr>
            </a:outerShdw>
          </a:effectLst>
        </p:spPr>
      </p:sp>
      <p:pic>
        <p:nvPicPr>
          <p:cNvPr id="4" name="Image 0" descr="Pipeline diagram">    </p:cNvPr>
          <p:cNvPicPr>
            <a:picLocks noChangeAspect="1"/>
          </p:cNvPicPr>
          <p:nvPr/>
        </p:nvPicPr>
        <p:blipFill>
          <a:blip r:embed="rId1"/>
          <a:stretch>
            <a:fillRect/>
          </a:stretch>
        </p:blipFill>
        <p:spPr>
          <a:xfrm>
            <a:off x="731520" y="1286787"/>
            <a:ext cx="7680960" cy="3141426"/>
          </a:xfrm>
          <a:prstGeom prst="rect">
            <a:avLst/>
          </a:prstGeom>
          <a:effectLst>
            <a:outerShdw sx="100000" sy="100000" kx="0" ky="0" algn="bl" rotWithShape="0" blurRad="101600" dist="25400" dir="5400000">
              <a:srgbClr val="0B1530">
                <a:alpha val="12000"/>
              </a:srgbClr>
            </a:outerShdw>
          </a:effectLst>
        </p:spPr>
      </p:pic>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Dataset and feature engineering</a:t>
            </a:r>
            <a:endParaRPr lang="en-US" sz="3000" dirty="0"/>
          </a:p>
        </p:txBody>
      </p:sp>
      <p:sp>
        <p:nvSpPr>
          <p:cNvPr id="3" name="feature card 1"/>
          <p:cNvSpPr/>
          <p:nvPr/>
        </p:nvSpPr>
        <p:spPr>
          <a:xfrm>
            <a:off x="548640" y="1188720"/>
            <a:ext cx="2532888" cy="2743200"/>
          </a:xfrm>
          <a:prstGeom prst="roundRect">
            <a:avLst>
              <a:gd name="adj" fmla="val 2888"/>
            </a:avLst>
          </a:prstGeom>
          <a:solidFill>
            <a:schemeClr val="bg1"/>
          </a:solidFill>
          <a:ln/>
          <a:effectLst>
            <a:outerShdw sx="100000" sy="100000" kx="0" ky="0" algn="bl" rotWithShape="0" blurRad="101600" dist="25400" dir="5400000">
              <a:srgbClr val="0B1530">
                <a:alpha val="12000"/>
              </a:srgbClr>
            </a:outerShdw>
          </a:effectLst>
        </p:spPr>
      </p:sp>
      <p:sp>
        <p:nvSpPr>
          <p:cNvPr id="4" name="icon circle"/>
          <p:cNvSpPr/>
          <p:nvPr/>
        </p:nvSpPr>
        <p:spPr>
          <a:xfrm>
            <a:off x="731520" y="1371600"/>
            <a:ext cx="457200" cy="457200"/>
          </a:xfrm>
          <a:prstGeom prst="ellipse">
            <a:avLst/>
          </a:prstGeom>
          <a:solidFill>
            <a:schemeClr val="accent1"/>
          </a:solidFill>
          <a:ln/>
        </p:spPr>
      </p:sp>
      <p:pic>
        <p:nvPicPr>
          <p:cNvPr id="5" name="Image 0" descr="FaDatabase">    </p:cNvPr>
          <p:cNvPicPr>
            <a:picLocks noChangeAspect="1"/>
          </p:cNvPicPr>
          <p:nvPr/>
        </p:nvPicPr>
        <p:blipFill>
          <a:blip r:embed="rId1"/>
          <a:stretch>
            <a:fillRect/>
          </a:stretch>
        </p:blipFill>
        <p:spPr>
          <a:xfrm>
            <a:off x="845820" y="1485900"/>
            <a:ext cx="228600" cy="228600"/>
          </a:xfrm>
          <a:prstGeom prst="rect">
            <a:avLst/>
          </a:prstGeom>
        </p:spPr>
      </p:pic>
      <p:sp>
        <p:nvSpPr>
          <p:cNvPr id="6" name="Text 3"/>
          <p:cNvSpPr txBox="1"/>
          <p:nvPr/>
        </p:nvSpPr>
        <p:spPr>
          <a:xfrm>
            <a:off x="1325880" y="1371600"/>
            <a:ext cx="164592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Raw sensors</a:t>
            </a:r>
            <a:endParaRPr lang="en-US" sz="1500" dirty="0"/>
          </a:p>
        </p:txBody>
      </p:sp>
      <p:sp>
        <p:nvSpPr>
          <p:cNvPr id="7" name="Text 4"/>
          <p:cNvSpPr txBox="1"/>
          <p:nvPr/>
        </p:nvSpPr>
        <p:spPr>
          <a:xfrm>
            <a:off x="731520" y="2011680"/>
            <a:ext cx="219456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Air and process temperature (Kelvin)</a:t>
            </a:r>
            <a:endParaRPr lang="en-US" sz="1300" dirty="0"/>
          </a:p>
          <a:p>
            <a:pPr marL="342900" indent="-3429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Rotational speed (rpm)</a:t>
            </a:r>
            <a:endParaRPr lang="en-US" sz="1300" dirty="0"/>
          </a:p>
          <a:p>
            <a:pPr marL="342900" indent="-3429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Torque (Nm)</a:t>
            </a:r>
            <a:endParaRPr lang="en-US" sz="1300" dirty="0"/>
          </a:p>
          <a:p>
            <a:pPr marL="342900" indent="-3429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Tool wear (min) and machine type</a:t>
            </a:r>
            <a:endParaRPr lang="en-US" sz="1300" dirty="0"/>
          </a:p>
        </p:txBody>
      </p:sp>
      <p:sp>
        <p:nvSpPr>
          <p:cNvPr id="8" name="feature card 2"/>
          <p:cNvSpPr/>
          <p:nvPr/>
        </p:nvSpPr>
        <p:spPr>
          <a:xfrm>
            <a:off x="3264408" y="1188720"/>
            <a:ext cx="2532888" cy="2743200"/>
          </a:xfrm>
          <a:prstGeom prst="roundRect">
            <a:avLst>
              <a:gd name="adj" fmla="val 2888"/>
            </a:avLst>
          </a:prstGeom>
          <a:solidFill>
            <a:schemeClr val="bg1"/>
          </a:solidFill>
          <a:ln/>
          <a:effectLst>
            <a:outerShdw sx="100000" sy="100000" kx="0" ky="0" algn="bl" rotWithShape="0" blurRad="101600" dist="25400" dir="5400000">
              <a:srgbClr val="0B1530">
                <a:alpha val="12000"/>
              </a:srgbClr>
            </a:outerShdw>
          </a:effectLst>
        </p:spPr>
      </p:sp>
      <p:sp>
        <p:nvSpPr>
          <p:cNvPr id="9" name="icon circle"/>
          <p:cNvSpPr/>
          <p:nvPr/>
        </p:nvSpPr>
        <p:spPr>
          <a:xfrm>
            <a:off x="3447288" y="1371600"/>
            <a:ext cx="457200" cy="457200"/>
          </a:xfrm>
          <a:prstGeom prst="ellipse">
            <a:avLst/>
          </a:prstGeom>
          <a:solidFill>
            <a:schemeClr val="accent1"/>
          </a:solidFill>
          <a:ln/>
        </p:spPr>
      </p:sp>
      <p:pic>
        <p:nvPicPr>
          <p:cNvPr id="10" name="Image 1" descr="FaFlask">    </p:cNvPr>
          <p:cNvPicPr>
            <a:picLocks noChangeAspect="1"/>
          </p:cNvPicPr>
          <p:nvPr/>
        </p:nvPicPr>
        <p:blipFill>
          <a:blip r:embed="rId2"/>
          <a:stretch>
            <a:fillRect/>
          </a:stretch>
        </p:blipFill>
        <p:spPr>
          <a:xfrm>
            <a:off x="3561588" y="1485900"/>
            <a:ext cx="228600" cy="228600"/>
          </a:xfrm>
          <a:prstGeom prst="rect">
            <a:avLst/>
          </a:prstGeom>
        </p:spPr>
      </p:pic>
      <p:sp>
        <p:nvSpPr>
          <p:cNvPr id="11" name="Text 7"/>
          <p:cNvSpPr txBox="1"/>
          <p:nvPr/>
        </p:nvSpPr>
        <p:spPr>
          <a:xfrm>
            <a:off x="4041648" y="1371600"/>
            <a:ext cx="164592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Derived features</a:t>
            </a:r>
            <a:endParaRPr lang="en-US" sz="1500" dirty="0"/>
          </a:p>
        </p:txBody>
      </p:sp>
      <p:sp>
        <p:nvSpPr>
          <p:cNvPr id="12" name="Text 8"/>
          <p:cNvSpPr txBox="1"/>
          <p:nvPr/>
        </p:nvSpPr>
        <p:spPr>
          <a:xfrm>
            <a:off x="3447288" y="2011680"/>
            <a:ext cx="219456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Temperature difference</a:t>
            </a:r>
            <a:endParaRPr lang="en-US" sz="1300" dirty="0"/>
          </a:p>
          <a:p>
            <a:pPr marL="342900" indent="-3429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Power = torque x speed</a:t>
            </a:r>
            <a:endParaRPr lang="en-US" sz="1300" dirty="0"/>
          </a:p>
          <a:p>
            <a:pPr marL="342900" indent="-3429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Torque to speed ratio</a:t>
            </a:r>
            <a:endParaRPr lang="en-US" sz="1300" dirty="0"/>
          </a:p>
          <a:p>
            <a:pPr marL="342900" indent="-3429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Wear rate</a:t>
            </a:r>
            <a:endParaRPr lang="en-US" sz="1300" dirty="0"/>
          </a:p>
        </p:txBody>
      </p:sp>
      <p:sp>
        <p:nvSpPr>
          <p:cNvPr id="13" name="feature card 3"/>
          <p:cNvSpPr/>
          <p:nvPr/>
        </p:nvSpPr>
        <p:spPr>
          <a:xfrm>
            <a:off x="5980176" y="1188720"/>
            <a:ext cx="2532888" cy="2743200"/>
          </a:xfrm>
          <a:prstGeom prst="roundRect">
            <a:avLst>
              <a:gd name="adj" fmla="val 2888"/>
            </a:avLst>
          </a:prstGeom>
          <a:solidFill>
            <a:schemeClr val="bg1"/>
          </a:solidFill>
          <a:ln/>
          <a:effectLst>
            <a:outerShdw sx="100000" sy="100000" kx="0" ky="0" algn="bl" rotWithShape="0" blurRad="101600" dist="25400" dir="5400000">
              <a:srgbClr val="0B1530">
                <a:alpha val="12000"/>
              </a:srgbClr>
            </a:outerShdw>
          </a:effectLst>
        </p:spPr>
      </p:sp>
      <p:sp>
        <p:nvSpPr>
          <p:cNvPr id="14" name="icon circle"/>
          <p:cNvSpPr/>
          <p:nvPr/>
        </p:nvSpPr>
        <p:spPr>
          <a:xfrm>
            <a:off x="6163056" y="1371600"/>
            <a:ext cx="457200" cy="457200"/>
          </a:xfrm>
          <a:prstGeom prst="ellipse">
            <a:avLst/>
          </a:prstGeom>
          <a:solidFill>
            <a:schemeClr val="accent2"/>
          </a:solidFill>
          <a:ln/>
        </p:spPr>
      </p:sp>
      <p:pic>
        <p:nvPicPr>
          <p:cNvPr id="15" name="Image 2" descr="FaChartLine">    </p:cNvPr>
          <p:cNvPicPr>
            <a:picLocks noChangeAspect="1"/>
          </p:cNvPicPr>
          <p:nvPr/>
        </p:nvPicPr>
        <p:blipFill>
          <a:blip r:embed="rId3"/>
          <a:stretch>
            <a:fillRect/>
          </a:stretch>
        </p:blipFill>
        <p:spPr>
          <a:xfrm>
            <a:off x="6277356" y="1485900"/>
            <a:ext cx="228600" cy="228600"/>
          </a:xfrm>
          <a:prstGeom prst="rect">
            <a:avLst/>
          </a:prstGeom>
        </p:spPr>
      </p:pic>
      <p:sp>
        <p:nvSpPr>
          <p:cNvPr id="16" name="Text 11"/>
          <p:cNvSpPr txBox="1"/>
          <p:nvPr/>
        </p:nvSpPr>
        <p:spPr>
          <a:xfrm>
            <a:off x="6757416" y="1371600"/>
            <a:ext cx="164592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Trend features</a:t>
            </a:r>
            <a:endParaRPr lang="en-US" sz="1500" dirty="0"/>
          </a:p>
        </p:txBody>
      </p:sp>
      <p:sp>
        <p:nvSpPr>
          <p:cNvPr id="17" name="Text 12"/>
          <p:cNvSpPr txBox="1"/>
          <p:nvPr/>
        </p:nvSpPr>
        <p:spPr>
          <a:xfrm>
            <a:off x="6163056" y="2011680"/>
            <a:ext cx="219456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Rolling mean and std</a:t>
            </a:r>
            <a:endParaRPr lang="en-US" sz="1300" dirty="0"/>
          </a:p>
          <a:p>
            <a:pPr marL="342900" indent="-3429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Delta (sudden change)</a:t>
            </a:r>
            <a:endParaRPr lang="en-US" sz="1300" dirty="0"/>
          </a:p>
          <a:p>
            <a:pPr marL="342900" indent="-3429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Slope (gradual trend)</a:t>
            </a:r>
            <a:endParaRPr lang="en-US" sz="1300" dirty="0"/>
          </a:p>
          <a:p>
            <a:pPr marL="342900" indent="-3429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Built from past readings only</a:t>
            </a:r>
            <a:endParaRPr lang="en-US" sz="1300" dirty="0"/>
          </a:p>
        </p:txBody>
      </p:sp>
      <p:sp>
        <p:nvSpPr>
          <p:cNvPr id="18" name="leakage note"/>
          <p:cNvSpPr/>
          <p:nvPr/>
        </p:nvSpPr>
        <p:spPr>
          <a:xfrm>
            <a:off x="548640" y="4069080"/>
            <a:ext cx="8046720" cy="548640"/>
          </a:xfrm>
          <a:prstGeom prst="roundRect">
            <a:avLst>
              <a:gd name="adj" fmla="val 13333"/>
            </a:avLst>
          </a:prstGeom>
          <a:solidFill>
            <a:schemeClr val="tx1"/>
          </a:solidFill>
          <a:ln/>
          <a:effectLst>
            <a:outerShdw sx="100000" sy="100000" kx="0" ky="0" algn="bl" rotWithShape="0" blurRad="101600" dist="25400" dir="5400000">
              <a:srgbClr val="0B1530">
                <a:alpha val="12000"/>
              </a:srgbClr>
            </a:outerShdw>
          </a:effectLst>
        </p:spPr>
      </p:sp>
      <p:sp>
        <p:nvSpPr>
          <p:cNvPr id="19" name="Text 14"/>
          <p:cNvSpPr txBox="1"/>
          <p:nvPr/>
        </p:nvSpPr>
        <p:spPr>
          <a:xfrm>
            <a:off x="777240" y="4069080"/>
            <a:ext cx="7589520" cy="548640"/>
          </a:xfrm>
          <a:prstGeom prst="rect">
            <a:avLst/>
          </a:prstGeom>
          <a:noFill/>
          <a:ln/>
        </p:spPr>
        <p:txBody>
          <a:bodyPr wrap="square" lIns="0" tIns="0" rIns="0" bIns="0" rtlCol="0" anchor="ctr"/>
          <a:lstStyle/>
          <a:p>
            <a:pPr indent="0" marL="0">
              <a:buNone/>
            </a:pPr>
            <a:r>
              <a:rPr lang="en-US" sz="1300" dirty="0">
                <a:solidFill>
                  <a:schemeClr val="bg1"/>
                </a:solidFill>
                <a:latin typeface="Calibri" pitchFamily="34" charset="0"/>
                <a:ea typeface="Calibri" pitchFamily="34" charset="-122"/>
                <a:cs typeface="Calibri" pitchFamily="34" charset="-120"/>
              </a:rPr>
              <a:t>17 features in total. Every rolling feature uses only earlier readings, so the model never sees the future (checked by a test).</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bg1"/>
                </a:solidFill>
              </a:rPr>
              <a:t>Doing the evaluation correctly</a:t>
            </a:r>
            <a:endParaRPr lang="en-US" sz="3000" dirty="0"/>
          </a:p>
        </p:txBody>
      </p:sp>
      <p:sp>
        <p:nvSpPr>
          <p:cNvPr id="3" name="method card 1"/>
          <p:cNvSpPr/>
          <p:nvPr/>
        </p:nvSpPr>
        <p:spPr>
          <a:xfrm>
            <a:off x="548640" y="1234440"/>
            <a:ext cx="2532888" cy="3200400"/>
          </a:xfrm>
          <a:prstGeom prst="roundRect">
            <a:avLst>
              <a:gd name="adj" fmla="val 2888"/>
            </a:avLst>
          </a:prstGeom>
          <a:solidFill>
            <a:srgbClr val="1F2A4D"/>
          </a:solidFill>
          <a:ln/>
          <a:effectLst>
            <a:outerShdw sx="100000" sy="100000" kx="0" ky="0" algn="bl" rotWithShape="0" blurRad="101600" dist="25400" dir="5400000">
              <a:srgbClr val="0B1530">
                <a:alpha val="12000"/>
              </a:srgbClr>
            </a:outerShdw>
          </a:effectLst>
        </p:spPr>
      </p:sp>
      <p:sp>
        <p:nvSpPr>
          <p:cNvPr id="4" name="Text 2"/>
          <p:cNvSpPr txBox="1"/>
          <p:nvPr/>
        </p:nvSpPr>
        <p:spPr>
          <a:xfrm>
            <a:off x="777240" y="1463040"/>
            <a:ext cx="210312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75 / 25</a:t>
            </a:r>
            <a:endParaRPr lang="en-US" sz="3400" dirty="0"/>
          </a:p>
        </p:txBody>
      </p:sp>
      <p:sp>
        <p:nvSpPr>
          <p:cNvPr id="5" name="Text 3"/>
          <p:cNvSpPr txBox="1"/>
          <p:nvPr/>
        </p:nvSpPr>
        <p:spPr>
          <a:xfrm>
            <a:off x="777240" y="2240280"/>
            <a:ext cx="2103120" cy="5486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Time-based split</a:t>
            </a:r>
            <a:endParaRPr lang="en-US" sz="1600" dirty="0"/>
          </a:p>
        </p:txBody>
      </p:sp>
      <p:sp>
        <p:nvSpPr>
          <p:cNvPr id="6" name="Text 4"/>
          <p:cNvSpPr txBox="1"/>
          <p:nvPr/>
        </p:nvSpPr>
        <p:spPr>
          <a:xfrm>
            <a:off x="777240" y="2880360"/>
            <a:ext cx="2103120" cy="146304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First 75% of the timeline trains, the last 25% tests. A random split would leak the future into training.</a:t>
            </a:r>
            <a:endParaRPr lang="en-US" sz="1300" dirty="0"/>
          </a:p>
        </p:txBody>
      </p:sp>
      <p:sp>
        <p:nvSpPr>
          <p:cNvPr id="7" name="method card 2"/>
          <p:cNvSpPr/>
          <p:nvPr/>
        </p:nvSpPr>
        <p:spPr>
          <a:xfrm>
            <a:off x="3264408" y="1234440"/>
            <a:ext cx="2532888" cy="3200400"/>
          </a:xfrm>
          <a:prstGeom prst="roundRect">
            <a:avLst>
              <a:gd name="adj" fmla="val 2888"/>
            </a:avLst>
          </a:prstGeom>
          <a:solidFill>
            <a:srgbClr val="1F2A4D"/>
          </a:solidFill>
          <a:ln/>
          <a:effectLst>
            <a:outerShdw sx="100000" sy="100000" kx="0" ky="0" algn="bl" rotWithShape="0" blurRad="101600" dist="25400" dir="5400000">
              <a:srgbClr val="0B1530">
                <a:alpha val="12000"/>
              </a:srgbClr>
            </a:outerShdw>
          </a:effectLst>
        </p:spPr>
      </p:sp>
      <p:sp>
        <p:nvSpPr>
          <p:cNvPr id="8" name="Text 6"/>
          <p:cNvSpPr txBox="1"/>
          <p:nvPr/>
        </p:nvSpPr>
        <p:spPr>
          <a:xfrm>
            <a:off x="3493008" y="1463040"/>
            <a:ext cx="210312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Weights</a:t>
            </a:r>
            <a:endParaRPr lang="en-US" sz="3400" dirty="0"/>
          </a:p>
        </p:txBody>
      </p:sp>
      <p:sp>
        <p:nvSpPr>
          <p:cNvPr id="9" name="Text 7"/>
          <p:cNvSpPr txBox="1"/>
          <p:nvPr/>
        </p:nvSpPr>
        <p:spPr>
          <a:xfrm>
            <a:off x="3493008" y="2240280"/>
            <a:ext cx="2103120" cy="5486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Class weights, not SMOTE</a:t>
            </a:r>
            <a:endParaRPr lang="en-US" sz="1600" dirty="0"/>
          </a:p>
        </p:txBody>
      </p:sp>
      <p:sp>
        <p:nvSpPr>
          <p:cNvPr id="10" name="Text 8"/>
          <p:cNvSpPr txBox="1"/>
          <p:nvPr/>
        </p:nvSpPr>
        <p:spPr>
          <a:xfrm>
            <a:off x="3493008" y="2880360"/>
            <a:ext cx="2103120" cy="146304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Failures are rare. Weights change the loss, while SMOTE would create unrealistic points in time-ordered data.</a:t>
            </a:r>
            <a:endParaRPr lang="en-US" sz="1300" dirty="0"/>
          </a:p>
        </p:txBody>
      </p:sp>
      <p:sp>
        <p:nvSpPr>
          <p:cNvPr id="11" name="method card 3"/>
          <p:cNvSpPr/>
          <p:nvPr/>
        </p:nvSpPr>
        <p:spPr>
          <a:xfrm>
            <a:off x="5980176" y="1234440"/>
            <a:ext cx="2532888" cy="3200400"/>
          </a:xfrm>
          <a:prstGeom prst="roundRect">
            <a:avLst>
              <a:gd name="adj" fmla="val 2888"/>
            </a:avLst>
          </a:prstGeom>
          <a:solidFill>
            <a:srgbClr val="1F2A4D"/>
          </a:solidFill>
          <a:ln/>
          <a:effectLst>
            <a:outerShdw sx="100000" sy="100000" kx="0" ky="0" algn="bl" rotWithShape="0" blurRad="101600" dist="25400" dir="5400000">
              <a:srgbClr val="0B1530">
                <a:alpha val="12000"/>
              </a:srgbClr>
            </a:outerShdw>
          </a:effectLst>
        </p:spPr>
      </p:sp>
      <p:sp>
        <p:nvSpPr>
          <p:cNvPr id="12" name="Text 10"/>
          <p:cNvSpPr txBox="1"/>
          <p:nvPr/>
        </p:nvSpPr>
        <p:spPr>
          <a:xfrm>
            <a:off x="6208776" y="1463040"/>
            <a:ext cx="210312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PR-AUC</a:t>
            </a:r>
            <a:endParaRPr lang="en-US" sz="3400" dirty="0"/>
          </a:p>
        </p:txBody>
      </p:sp>
      <p:sp>
        <p:nvSpPr>
          <p:cNvPr id="13" name="Text 11"/>
          <p:cNvSpPr txBox="1"/>
          <p:nvPr/>
        </p:nvSpPr>
        <p:spPr>
          <a:xfrm>
            <a:off x="6208776" y="2240280"/>
            <a:ext cx="2103120" cy="5486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Metrics beyond accuracy</a:t>
            </a:r>
            <a:endParaRPr lang="en-US" sz="1600" dirty="0"/>
          </a:p>
        </p:txBody>
      </p:sp>
      <p:sp>
        <p:nvSpPr>
          <p:cNvPr id="14" name="Text 12"/>
          <p:cNvSpPr txBox="1"/>
          <p:nvPr/>
        </p:nvSpPr>
        <p:spPr>
          <a:xfrm>
            <a:off x="6208776" y="2880360"/>
            <a:ext cx="2103120" cy="146304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Always saying no failure scores 97% accuracy. So precision, recall, F1, ROC-AUC and PR-AUC are used.</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Model comparison on the test period</a:t>
            </a:r>
            <a:endParaRPr lang="en-US" sz="3000" dirty="0"/>
          </a:p>
        </p:txBody>
      </p:sp>
      <p:sp>
        <p:nvSpPr>
          <p:cNvPr id="3" name="chart card"/>
          <p:cNvSpPr/>
          <p:nvPr/>
        </p:nvSpPr>
        <p:spPr>
          <a:xfrm>
            <a:off x="548640" y="1143000"/>
            <a:ext cx="5120640" cy="3474720"/>
          </a:xfrm>
          <a:prstGeom prst="roundRect">
            <a:avLst>
              <a:gd name="adj" fmla="val 2105"/>
            </a:avLst>
          </a:prstGeom>
          <a:solidFill>
            <a:schemeClr val="bg1"/>
          </a:solidFill>
          <a:ln/>
          <a:effectLst>
            <a:outerShdw sx="100000" sy="100000" kx="0" ky="0" algn="bl" rotWithShape="0" blurRad="101600" dist="25400" dir="5400000">
              <a:srgbClr val="0B1530">
                <a:alpha val="12000"/>
              </a:srgbClr>
            </a:outerShdw>
          </a:effectLst>
        </p:spPr>
      </p:sp>
      <p:graphicFrame>
        <p:nvGraphicFramePr>
          <p:cNvPr id="4" name="Chart 0" descr=""/>
          <p:cNvGraphicFramePr/>
          <p:nvPr/>
        </p:nvGraphicFramePr>
        <p:xfrm>
          <a:off x="640080" y="123444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5" name="insight card"/>
          <p:cNvSpPr/>
          <p:nvPr/>
        </p:nvSpPr>
        <p:spPr>
          <a:xfrm>
            <a:off x="5943600" y="1143000"/>
            <a:ext cx="2651760" cy="3474720"/>
          </a:xfrm>
          <a:prstGeom prst="roundRect">
            <a:avLst>
              <a:gd name="adj" fmla="val 2759"/>
            </a:avLst>
          </a:prstGeom>
          <a:solidFill>
            <a:schemeClr val="tx1"/>
          </a:solidFill>
          <a:ln/>
          <a:effectLst>
            <a:outerShdw sx="100000" sy="100000" kx="0" ky="0" algn="bl" rotWithShape="0" blurRad="101600" dist="25400" dir="5400000">
              <a:srgbClr val="0B1530">
                <a:alpha val="12000"/>
              </a:srgbClr>
            </a:outerShdw>
          </a:effectLst>
        </p:spPr>
      </p:sp>
      <p:sp>
        <p:nvSpPr>
          <p:cNvPr id="6" name="Text 3"/>
          <p:cNvSpPr txBox="1"/>
          <p:nvPr/>
        </p:nvSpPr>
        <p:spPr>
          <a:xfrm>
            <a:off x="6126480" y="1325880"/>
            <a:ext cx="228600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What the table says</a:t>
            </a:r>
            <a:endParaRPr lang="en-US" sz="1500" dirty="0"/>
          </a:p>
        </p:txBody>
      </p:sp>
      <p:sp>
        <p:nvSpPr>
          <p:cNvPr id="7" name="Text 4"/>
          <p:cNvSpPr txBox="1"/>
          <p:nvPr/>
        </p:nvSpPr>
        <p:spPr>
          <a:xfrm>
            <a:off x="6126480" y="1737360"/>
            <a:ext cx="2331720" cy="2743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Logistic Regression catches 97% of failures but 5 of 6 alerts are false (precision 0.17)</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Random Forest is precise (0.97) but misses 23% of failures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Gradient boosting gives the best balance: precision 0.91, recall 0.89</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Selected model: results on 2,500 test readings</a:t>
            </a:r>
            <a:endParaRPr lang="en-US" sz="3000" dirty="0"/>
          </a:p>
        </p:txBody>
      </p:sp>
      <p:sp>
        <p:nvSpPr>
          <p:cNvPr id="3" name="kpi card 1"/>
          <p:cNvSpPr/>
          <p:nvPr/>
        </p:nvSpPr>
        <p:spPr>
          <a:xfrm>
            <a:off x="548640" y="1188720"/>
            <a:ext cx="2011680" cy="1554480"/>
          </a:xfrm>
          <a:prstGeom prst="roundRect">
            <a:avLst>
              <a:gd name="adj" fmla="val 4706"/>
            </a:avLst>
          </a:prstGeom>
          <a:solidFill>
            <a:schemeClr val="tx1"/>
          </a:solidFill>
          <a:ln/>
          <a:effectLst>
            <a:outerShdw sx="100000" sy="100000" kx="0" ky="0" algn="bl" rotWithShape="0" blurRad="101600" dist="25400" dir="5400000">
              <a:srgbClr val="0B1530">
                <a:alpha val="12000"/>
              </a:srgbClr>
            </a:outerShdw>
          </a:effectLst>
        </p:spPr>
      </p:sp>
      <p:sp>
        <p:nvSpPr>
          <p:cNvPr id="4" name="Text 2"/>
          <p:cNvSpPr txBox="1"/>
          <p:nvPr/>
        </p:nvSpPr>
        <p:spPr>
          <a:xfrm>
            <a:off x="731520" y="1463040"/>
            <a:ext cx="173736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0.897</a:t>
            </a:r>
            <a:endParaRPr lang="en-US" sz="3600" dirty="0"/>
          </a:p>
        </p:txBody>
      </p:sp>
      <p:sp>
        <p:nvSpPr>
          <p:cNvPr id="5" name="Text 3"/>
          <p:cNvSpPr txBox="1"/>
          <p:nvPr/>
        </p:nvSpPr>
        <p:spPr>
          <a:xfrm>
            <a:off x="731520" y="2148840"/>
            <a:ext cx="1691640" cy="4572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F1 score</a:t>
            </a:r>
            <a:endParaRPr lang="en-US" sz="1200" dirty="0"/>
          </a:p>
        </p:txBody>
      </p:sp>
      <p:sp>
        <p:nvSpPr>
          <p:cNvPr id="6" name="kpi card 2"/>
          <p:cNvSpPr/>
          <p:nvPr/>
        </p:nvSpPr>
        <p:spPr>
          <a:xfrm>
            <a:off x="2697480" y="1188720"/>
            <a:ext cx="2011680" cy="1554480"/>
          </a:xfrm>
          <a:prstGeom prst="roundRect">
            <a:avLst>
              <a:gd name="adj" fmla="val 4706"/>
            </a:avLst>
          </a:prstGeom>
          <a:solidFill>
            <a:schemeClr val="bg1"/>
          </a:solidFill>
          <a:ln/>
          <a:effectLst>
            <a:outerShdw sx="100000" sy="100000" kx="0" ky="0" algn="bl" rotWithShape="0" blurRad="101600" dist="25400" dir="5400000">
              <a:srgbClr val="0B1530">
                <a:alpha val="12000"/>
              </a:srgbClr>
            </a:outerShdw>
          </a:effectLst>
        </p:spPr>
      </p:sp>
      <p:sp>
        <p:nvSpPr>
          <p:cNvPr id="7" name="Text 5"/>
          <p:cNvSpPr txBox="1"/>
          <p:nvPr/>
        </p:nvSpPr>
        <p:spPr>
          <a:xfrm>
            <a:off x="2880360" y="1463040"/>
            <a:ext cx="1737360" cy="64008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0.887</a:t>
            </a:r>
            <a:endParaRPr lang="en-US" sz="3600" dirty="0"/>
          </a:p>
        </p:txBody>
      </p:sp>
      <p:sp>
        <p:nvSpPr>
          <p:cNvPr id="8" name="Text 6"/>
          <p:cNvSpPr txBox="1"/>
          <p:nvPr/>
        </p:nvSpPr>
        <p:spPr>
          <a:xfrm>
            <a:off x="2880360" y="2148840"/>
            <a:ext cx="1691640" cy="4572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Recall: failures caught</a:t>
            </a:r>
            <a:endParaRPr lang="en-US" sz="1200" dirty="0"/>
          </a:p>
        </p:txBody>
      </p:sp>
      <p:sp>
        <p:nvSpPr>
          <p:cNvPr id="9" name="kpi card 3"/>
          <p:cNvSpPr/>
          <p:nvPr/>
        </p:nvSpPr>
        <p:spPr>
          <a:xfrm>
            <a:off x="548640" y="2926080"/>
            <a:ext cx="2011680" cy="1554480"/>
          </a:xfrm>
          <a:prstGeom prst="roundRect">
            <a:avLst>
              <a:gd name="adj" fmla="val 4706"/>
            </a:avLst>
          </a:prstGeom>
          <a:solidFill>
            <a:schemeClr val="bg1"/>
          </a:solidFill>
          <a:ln/>
          <a:effectLst>
            <a:outerShdw sx="100000" sy="100000" kx="0" ky="0" algn="bl" rotWithShape="0" blurRad="101600" dist="25400" dir="5400000">
              <a:srgbClr val="0B1530">
                <a:alpha val="12000"/>
              </a:srgbClr>
            </a:outerShdw>
          </a:effectLst>
        </p:spPr>
      </p:sp>
      <p:sp>
        <p:nvSpPr>
          <p:cNvPr id="10" name="Text 8"/>
          <p:cNvSpPr txBox="1"/>
          <p:nvPr/>
        </p:nvSpPr>
        <p:spPr>
          <a:xfrm>
            <a:off x="731520" y="3200400"/>
            <a:ext cx="1737360" cy="64008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0.908</a:t>
            </a:r>
            <a:endParaRPr lang="en-US" sz="3600" dirty="0"/>
          </a:p>
        </p:txBody>
      </p:sp>
      <p:sp>
        <p:nvSpPr>
          <p:cNvPr id="11" name="Text 9"/>
          <p:cNvSpPr txBox="1"/>
          <p:nvPr/>
        </p:nvSpPr>
        <p:spPr>
          <a:xfrm>
            <a:off x="731520" y="3886200"/>
            <a:ext cx="1691640" cy="4572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Precision: real alerts</a:t>
            </a:r>
            <a:endParaRPr lang="en-US" sz="1200" dirty="0"/>
          </a:p>
        </p:txBody>
      </p:sp>
      <p:sp>
        <p:nvSpPr>
          <p:cNvPr id="12" name="kpi card 4"/>
          <p:cNvSpPr/>
          <p:nvPr/>
        </p:nvSpPr>
        <p:spPr>
          <a:xfrm>
            <a:off x="2697480" y="2926080"/>
            <a:ext cx="2011680" cy="1554480"/>
          </a:xfrm>
          <a:prstGeom prst="roundRect">
            <a:avLst>
              <a:gd name="adj" fmla="val 4706"/>
            </a:avLst>
          </a:prstGeom>
          <a:solidFill>
            <a:schemeClr val="bg1"/>
          </a:solidFill>
          <a:ln/>
          <a:effectLst>
            <a:outerShdw sx="100000" sy="100000" kx="0" ky="0" algn="bl" rotWithShape="0" blurRad="101600" dist="25400" dir="5400000">
              <a:srgbClr val="0B1530">
                <a:alpha val="12000"/>
              </a:srgbClr>
            </a:outerShdw>
          </a:effectLst>
        </p:spPr>
      </p:sp>
      <p:sp>
        <p:nvSpPr>
          <p:cNvPr id="13" name="Text 11"/>
          <p:cNvSpPr txBox="1"/>
          <p:nvPr/>
        </p:nvSpPr>
        <p:spPr>
          <a:xfrm>
            <a:off x="2880360" y="3200400"/>
            <a:ext cx="1737360" cy="64008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0.937</a:t>
            </a:r>
            <a:endParaRPr lang="en-US" sz="3600" dirty="0"/>
          </a:p>
        </p:txBody>
      </p:sp>
      <p:sp>
        <p:nvSpPr>
          <p:cNvPr id="14" name="Text 12"/>
          <p:cNvSpPr txBox="1"/>
          <p:nvPr/>
        </p:nvSpPr>
        <p:spPr>
          <a:xfrm>
            <a:off x="2880360" y="3886200"/>
            <a:ext cx="1691640" cy="4572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PR-AUC</a:t>
            </a:r>
            <a:endParaRPr lang="en-US" sz="1200" dirty="0"/>
          </a:p>
        </p:txBody>
      </p:sp>
      <p:sp>
        <p:nvSpPr>
          <p:cNvPr id="15" name="confusion card"/>
          <p:cNvSpPr/>
          <p:nvPr/>
        </p:nvSpPr>
        <p:spPr>
          <a:xfrm>
            <a:off x="5029200" y="1188720"/>
            <a:ext cx="3566160" cy="3291840"/>
          </a:xfrm>
          <a:prstGeom prst="roundRect">
            <a:avLst>
              <a:gd name="adj" fmla="val 2222"/>
            </a:avLst>
          </a:prstGeom>
          <a:solidFill>
            <a:schemeClr val="bg1"/>
          </a:solidFill>
          <a:ln/>
          <a:effectLst>
            <a:outerShdw sx="100000" sy="100000" kx="0" ky="0" algn="bl" rotWithShape="0" blurRad="101600" dist="25400" dir="5400000">
              <a:srgbClr val="0B1530">
                <a:alpha val="12000"/>
              </a:srgbClr>
            </a:outerShdw>
          </a:effectLst>
        </p:spPr>
      </p:sp>
      <p:pic>
        <p:nvPicPr>
          <p:cNvPr id="16" name="Image 0" descr="Confusion matrix">    </p:cNvPr>
          <p:cNvPicPr>
            <a:picLocks noChangeAspect="1"/>
          </p:cNvPicPr>
          <p:nvPr/>
        </p:nvPicPr>
        <p:blipFill>
          <a:blip r:embed="rId1"/>
          <a:stretch>
            <a:fillRect/>
          </a:stretch>
        </p:blipFill>
        <p:spPr>
          <a:xfrm>
            <a:off x="5326380" y="1234440"/>
            <a:ext cx="2971800" cy="2377440"/>
          </a:xfrm>
          <a:prstGeom prst="rect">
            <a:avLst/>
          </a:prstGeom>
          <a:effectLst>
            <a:outerShdw sx="100000" sy="100000" kx="0" ky="0" algn="bl" rotWithShape="0" blurRad="101600" dist="25400" dir="5400000">
              <a:srgbClr val="0B1530">
                <a:alpha val="12000"/>
              </a:srgbClr>
            </a:outerShdw>
          </a:effectLst>
        </p:spPr>
      </p:pic>
      <p:sp>
        <p:nvSpPr>
          <p:cNvPr id="17" name="Text 14"/>
          <p:cNvSpPr txBox="1"/>
          <p:nvPr/>
        </p:nvSpPr>
        <p:spPr>
          <a:xfrm>
            <a:off x="5212080" y="3703320"/>
            <a:ext cx="3200400" cy="64008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118 failures caught, 15 missed, 12 false alarms out of 2,367 healthy readings</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bg1"/>
                </a:solidFill>
              </a:rPr>
              <a:t>What drives the prediction</a:t>
            </a:r>
            <a:endParaRPr lang="en-US" sz="3000" dirty="0"/>
          </a:p>
        </p:txBody>
      </p:sp>
      <p:sp>
        <p:nvSpPr>
          <p:cNvPr id="3" name="figure card"/>
          <p:cNvSpPr/>
          <p:nvPr/>
        </p:nvSpPr>
        <p:spPr>
          <a:xfrm>
            <a:off x="548640" y="1143000"/>
            <a:ext cx="4023360" cy="3474720"/>
          </a:xfrm>
          <a:prstGeom prst="roundRect">
            <a:avLst>
              <a:gd name="adj" fmla="val 2105"/>
            </a:avLst>
          </a:prstGeom>
          <a:solidFill>
            <a:schemeClr val="bg1"/>
          </a:solidFill>
          <a:ln/>
        </p:spPr>
      </p:sp>
      <p:pic>
        <p:nvPicPr>
          <p:cNvPr id="4" name="Image 0" descr="Feature importance">    </p:cNvPr>
          <p:cNvPicPr>
            <a:picLocks noChangeAspect="1"/>
          </p:cNvPicPr>
          <p:nvPr/>
        </p:nvPicPr>
        <p:blipFill>
          <a:blip r:embed="rId1"/>
          <a:stretch>
            <a:fillRect/>
          </a:stretch>
        </p:blipFill>
        <p:spPr>
          <a:xfrm>
            <a:off x="640080" y="1234440"/>
            <a:ext cx="3840480" cy="3291840"/>
          </a:xfrm>
          <a:prstGeom prst="rect">
            <a:avLst/>
          </a:prstGeom>
          <a:effectLst>
            <a:outerShdw sx="100000" sy="100000" kx="0" ky="0" algn="bl" rotWithShape="0" blurRad="101600" dist="25400" dir="5400000">
              <a:srgbClr val="0B1530">
                <a:alpha val="12000"/>
              </a:srgbClr>
            </a:outerShdw>
          </a:effectLst>
        </p:spPr>
      </p:pic>
      <p:sp>
        <p:nvSpPr>
          <p:cNvPr id="5" name="icon circle"/>
          <p:cNvSpPr/>
          <p:nvPr/>
        </p:nvSpPr>
        <p:spPr>
          <a:xfrm>
            <a:off x="4892040" y="1188720"/>
            <a:ext cx="457200" cy="457200"/>
          </a:xfrm>
          <a:prstGeom prst="ellipse">
            <a:avLst/>
          </a:prstGeom>
          <a:solidFill>
            <a:schemeClr val="accent1"/>
          </a:solidFill>
          <a:ln/>
        </p:spPr>
      </p:sp>
      <p:pic>
        <p:nvPicPr>
          <p:cNvPr id="6" name="Image 1" descr="FaBrain">    </p:cNvPr>
          <p:cNvPicPr>
            <a:picLocks noChangeAspect="1"/>
          </p:cNvPicPr>
          <p:nvPr/>
        </p:nvPicPr>
        <p:blipFill>
          <a:blip r:embed="rId2"/>
          <a:stretch>
            <a:fillRect/>
          </a:stretch>
        </p:blipFill>
        <p:spPr>
          <a:xfrm>
            <a:off x="5006340" y="1303020"/>
            <a:ext cx="228600" cy="228600"/>
          </a:xfrm>
          <a:prstGeom prst="rect">
            <a:avLst/>
          </a:prstGeom>
        </p:spPr>
      </p:pic>
      <p:sp>
        <p:nvSpPr>
          <p:cNvPr id="7" name="Text 3"/>
          <p:cNvSpPr txBox="1"/>
          <p:nvPr/>
        </p:nvSpPr>
        <p:spPr>
          <a:xfrm>
            <a:off x="5486400" y="1188720"/>
            <a:ext cx="3108960" cy="45720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Why is this machine at risk?</a:t>
            </a:r>
            <a:endParaRPr lang="en-US" sz="1600" dirty="0"/>
          </a:p>
        </p:txBody>
      </p:sp>
      <p:sp>
        <p:nvSpPr>
          <p:cNvPr id="8" name="Text 4"/>
          <p:cNvSpPr txBox="1"/>
          <p:nvPr/>
        </p:nvSpPr>
        <p:spPr>
          <a:xfrm>
            <a:off x="4892040" y="1828800"/>
            <a:ext cx="370332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The 17 features are grouped into 8 sensor groups</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Each group is replaced by its training median and the drop in failure score is measured</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The drops become percentages that add up to 100%</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This is a what-if explanation, not SHAP. SHAP is future work</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Supporting models</a:t>
            </a:r>
            <a:endParaRPr lang="en-US" sz="3000" dirty="0"/>
          </a:p>
        </p:txBody>
      </p:sp>
      <p:sp>
        <p:nvSpPr>
          <p:cNvPr id="3" name="module card 1"/>
          <p:cNvSpPr/>
          <p:nvPr/>
        </p:nvSpPr>
        <p:spPr>
          <a:xfrm>
            <a:off x="548640" y="1188720"/>
            <a:ext cx="2532888" cy="3429000"/>
          </a:xfrm>
          <a:prstGeom prst="roundRect">
            <a:avLst>
              <a:gd name="adj" fmla="val 2888"/>
            </a:avLst>
          </a:prstGeom>
          <a:solidFill>
            <a:schemeClr val="bg1"/>
          </a:solidFill>
          <a:ln/>
          <a:effectLst>
            <a:outerShdw sx="100000" sy="100000" kx="0" ky="0" algn="bl" rotWithShape="0" blurRad="101600" dist="25400" dir="5400000">
              <a:srgbClr val="0B1530">
                <a:alpha val="12000"/>
              </a:srgbClr>
            </a:outerShdw>
          </a:effectLst>
        </p:spPr>
      </p:sp>
      <p:sp>
        <p:nvSpPr>
          <p:cNvPr id="4" name="icon circle"/>
          <p:cNvSpPr/>
          <p:nvPr/>
        </p:nvSpPr>
        <p:spPr>
          <a:xfrm>
            <a:off x="731520" y="1371600"/>
            <a:ext cx="411480" cy="411480"/>
          </a:xfrm>
          <a:prstGeom prst="ellipse">
            <a:avLst/>
          </a:prstGeom>
          <a:solidFill>
            <a:schemeClr val="accent1"/>
          </a:solidFill>
          <a:ln/>
        </p:spPr>
      </p:sp>
      <p:pic>
        <p:nvPicPr>
          <p:cNvPr id="5" name="Image 0" descr="FaExclamationTriangle">    </p:cNvPr>
          <p:cNvPicPr>
            <a:picLocks noChangeAspect="1"/>
          </p:cNvPicPr>
          <p:nvPr/>
        </p:nvPicPr>
        <p:blipFill>
          <a:blip r:embed="rId1"/>
          <a:stretch>
            <a:fillRect/>
          </a:stretch>
        </p:blipFill>
        <p:spPr>
          <a:xfrm>
            <a:off x="834390" y="1474470"/>
            <a:ext cx="205740" cy="205740"/>
          </a:xfrm>
          <a:prstGeom prst="rect">
            <a:avLst/>
          </a:prstGeom>
        </p:spPr>
      </p:pic>
      <p:sp>
        <p:nvSpPr>
          <p:cNvPr id="6" name="Text 3"/>
          <p:cNvSpPr txBox="1"/>
          <p:nvPr/>
        </p:nvSpPr>
        <p:spPr>
          <a:xfrm>
            <a:off x="1280160" y="1353312"/>
            <a:ext cx="1737360" cy="25603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Anomaly detection</a:t>
            </a:r>
            <a:endParaRPr lang="en-US" sz="1400" dirty="0"/>
          </a:p>
        </p:txBody>
      </p:sp>
      <p:sp>
        <p:nvSpPr>
          <p:cNvPr id="7" name="Text 4"/>
          <p:cNvSpPr txBox="1"/>
          <p:nvPr/>
        </p:nvSpPr>
        <p:spPr>
          <a:xfrm>
            <a:off x="1280160" y="1609344"/>
            <a:ext cx="1737360" cy="228600"/>
          </a:xfrm>
          <a:prstGeom prst="rect">
            <a:avLst/>
          </a:prstGeom>
          <a:noFill/>
          <a:ln/>
        </p:spPr>
        <p:txBody>
          <a:bodyPr wrap="square" lIns="0" tIns="0" rIns="0" bIns="0" rtlCol="0" anchor="t"/>
          <a:lstStyle/>
          <a:p>
            <a:pPr indent="0" marL="0">
              <a:buNone/>
            </a:pPr>
            <a:r>
              <a:rPr lang="en-US" sz="1000" dirty="0">
                <a:solidFill>
                  <a:schemeClr val="accent6"/>
                </a:solidFill>
                <a:latin typeface="Calibri" pitchFamily="34" charset="0"/>
                <a:ea typeface="Calibri" pitchFamily="34" charset="-122"/>
                <a:cs typeface="Calibri" pitchFamily="34" charset="-120"/>
              </a:rPr>
              <a:t>Isolation Forest</a:t>
            </a:r>
            <a:endParaRPr lang="en-US" sz="1000" dirty="0"/>
          </a:p>
        </p:txBody>
      </p:sp>
      <p:sp>
        <p:nvSpPr>
          <p:cNvPr id="8" name="Text 5"/>
          <p:cNvSpPr txBox="1"/>
          <p:nvPr/>
        </p:nvSpPr>
        <p:spPr>
          <a:xfrm>
            <a:off x="731520" y="2011680"/>
            <a:ext cx="2194560" cy="59436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131</a:t>
            </a:r>
            <a:endParaRPr lang="en-US" sz="3600" dirty="0"/>
          </a:p>
        </p:txBody>
      </p:sp>
      <p:sp>
        <p:nvSpPr>
          <p:cNvPr id="9" name="Text 6"/>
          <p:cNvSpPr txBox="1"/>
          <p:nvPr/>
        </p:nvSpPr>
        <p:spPr>
          <a:xfrm>
            <a:off x="731520" y="2606040"/>
            <a:ext cx="2194560" cy="36576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readings flagged in the test period</a:t>
            </a:r>
            <a:endParaRPr lang="en-US" sz="1100" dirty="0"/>
          </a:p>
        </p:txBody>
      </p:sp>
      <p:sp>
        <p:nvSpPr>
          <p:cNvPr id="10" name="Text 7"/>
          <p:cNvSpPr txBox="1"/>
          <p:nvPr/>
        </p:nvSpPr>
        <p:spPr>
          <a:xfrm>
            <a:off x="731520" y="3017520"/>
            <a:ext cx="2194560" cy="150876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About half of the real failures also show up as anomalies (precision 0.48, recall 0.47). It supports the failure model and does not replace it.</a:t>
            </a:r>
            <a:endParaRPr lang="en-US" sz="1100" dirty="0"/>
          </a:p>
        </p:txBody>
      </p:sp>
      <p:sp>
        <p:nvSpPr>
          <p:cNvPr id="11" name="module card 2"/>
          <p:cNvSpPr/>
          <p:nvPr/>
        </p:nvSpPr>
        <p:spPr>
          <a:xfrm>
            <a:off x="3264408" y="1188720"/>
            <a:ext cx="2532888" cy="3429000"/>
          </a:xfrm>
          <a:prstGeom prst="roundRect">
            <a:avLst>
              <a:gd name="adj" fmla="val 2888"/>
            </a:avLst>
          </a:prstGeom>
          <a:solidFill>
            <a:schemeClr val="bg1"/>
          </a:solidFill>
          <a:ln/>
          <a:effectLst>
            <a:outerShdw sx="100000" sy="100000" kx="0" ky="0" algn="bl" rotWithShape="0" blurRad="101600" dist="25400" dir="5400000">
              <a:srgbClr val="0B1530">
                <a:alpha val="12000"/>
              </a:srgbClr>
            </a:outerShdw>
          </a:effectLst>
        </p:spPr>
      </p:sp>
      <p:sp>
        <p:nvSpPr>
          <p:cNvPr id="12" name="icon circle"/>
          <p:cNvSpPr/>
          <p:nvPr/>
        </p:nvSpPr>
        <p:spPr>
          <a:xfrm>
            <a:off x="3447288" y="1371600"/>
            <a:ext cx="411480" cy="411480"/>
          </a:xfrm>
          <a:prstGeom prst="ellipse">
            <a:avLst/>
          </a:prstGeom>
          <a:solidFill>
            <a:schemeClr val="accent1"/>
          </a:solidFill>
          <a:ln/>
        </p:spPr>
      </p:sp>
      <p:pic>
        <p:nvPicPr>
          <p:cNvPr id="13" name="Image 1" descr="FaFlask">    </p:cNvPr>
          <p:cNvPicPr>
            <a:picLocks noChangeAspect="1"/>
          </p:cNvPicPr>
          <p:nvPr/>
        </p:nvPicPr>
        <p:blipFill>
          <a:blip r:embed="rId2"/>
          <a:stretch>
            <a:fillRect/>
          </a:stretch>
        </p:blipFill>
        <p:spPr>
          <a:xfrm>
            <a:off x="3550158" y="1474470"/>
            <a:ext cx="205740" cy="205740"/>
          </a:xfrm>
          <a:prstGeom prst="rect">
            <a:avLst/>
          </a:prstGeom>
        </p:spPr>
      </p:pic>
      <p:sp>
        <p:nvSpPr>
          <p:cNvPr id="14" name="Text 10"/>
          <p:cNvSpPr txBox="1"/>
          <p:nvPr/>
        </p:nvSpPr>
        <p:spPr>
          <a:xfrm>
            <a:off x="3995928" y="1353312"/>
            <a:ext cx="1737360" cy="25603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Failure type</a:t>
            </a:r>
            <a:endParaRPr lang="en-US" sz="1400" dirty="0"/>
          </a:p>
        </p:txBody>
      </p:sp>
      <p:sp>
        <p:nvSpPr>
          <p:cNvPr id="15" name="Text 11"/>
          <p:cNvSpPr txBox="1"/>
          <p:nvPr/>
        </p:nvSpPr>
        <p:spPr>
          <a:xfrm>
            <a:off x="3995928" y="1609344"/>
            <a:ext cx="1737360" cy="228600"/>
          </a:xfrm>
          <a:prstGeom prst="rect">
            <a:avLst/>
          </a:prstGeom>
          <a:noFill/>
          <a:ln/>
        </p:spPr>
        <p:txBody>
          <a:bodyPr wrap="square" lIns="0" tIns="0" rIns="0" bIns="0" rtlCol="0" anchor="t"/>
          <a:lstStyle/>
          <a:p>
            <a:pPr indent="0" marL="0">
              <a:buNone/>
            </a:pPr>
            <a:r>
              <a:rPr lang="en-US" sz="1000" dirty="0">
                <a:solidFill>
                  <a:schemeClr val="accent6"/>
                </a:solidFill>
                <a:latin typeface="Calibri" pitchFamily="34" charset="0"/>
                <a:ea typeface="Calibri" pitchFamily="34" charset="-122"/>
                <a:cs typeface="Calibri" pitchFamily="34" charset="-120"/>
              </a:rPr>
              <a:t>Random Forest, failure rows only</a:t>
            </a:r>
            <a:endParaRPr lang="en-US" sz="1000" dirty="0"/>
          </a:p>
        </p:txBody>
      </p:sp>
      <p:sp>
        <p:nvSpPr>
          <p:cNvPr id="16" name="Text 12"/>
          <p:cNvSpPr txBox="1"/>
          <p:nvPr/>
        </p:nvSpPr>
        <p:spPr>
          <a:xfrm>
            <a:off x="3447288" y="2011680"/>
            <a:ext cx="2194560" cy="59436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0.95</a:t>
            </a:r>
            <a:endParaRPr lang="en-US" sz="3600" dirty="0"/>
          </a:p>
        </p:txBody>
      </p:sp>
      <p:sp>
        <p:nvSpPr>
          <p:cNvPr id="17" name="Text 13"/>
          <p:cNvSpPr txBox="1"/>
          <p:nvPr/>
        </p:nvSpPr>
        <p:spPr>
          <a:xfrm>
            <a:off x="3447288" y="2606040"/>
            <a:ext cx="2194560" cy="36576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weighted F1 (macro F1 0.79)</a:t>
            </a:r>
            <a:endParaRPr lang="en-US" sz="1100" dirty="0"/>
          </a:p>
        </p:txBody>
      </p:sp>
      <p:sp>
        <p:nvSpPr>
          <p:cNvPr id="18" name="Text 14"/>
          <p:cNvSpPr txBox="1"/>
          <p:nvPr/>
        </p:nvSpPr>
        <p:spPr>
          <a:xfrm>
            <a:off x="3447288" y="3017520"/>
            <a:ext cx="2194560" cy="150876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Trained on 163 failures, tested on 133. Rare types such as Power have only 2 test examples, so their scores are less reliable.</a:t>
            </a:r>
            <a:endParaRPr lang="en-US" sz="1100" dirty="0"/>
          </a:p>
        </p:txBody>
      </p:sp>
      <p:sp>
        <p:nvSpPr>
          <p:cNvPr id="19" name="module card 3"/>
          <p:cNvSpPr/>
          <p:nvPr/>
        </p:nvSpPr>
        <p:spPr>
          <a:xfrm>
            <a:off x="5980176" y="1188720"/>
            <a:ext cx="2532888" cy="3429000"/>
          </a:xfrm>
          <a:prstGeom prst="roundRect">
            <a:avLst>
              <a:gd name="adj" fmla="val 2888"/>
            </a:avLst>
          </a:prstGeom>
          <a:solidFill>
            <a:schemeClr val="bg1"/>
          </a:solidFill>
          <a:ln/>
          <a:effectLst>
            <a:outerShdw sx="100000" sy="100000" kx="0" ky="0" algn="bl" rotWithShape="0" blurRad="101600" dist="25400" dir="5400000">
              <a:srgbClr val="0B1530">
                <a:alpha val="12000"/>
              </a:srgbClr>
            </a:outerShdw>
          </a:effectLst>
        </p:spPr>
      </p:sp>
      <p:sp>
        <p:nvSpPr>
          <p:cNvPr id="20" name="icon circle"/>
          <p:cNvSpPr/>
          <p:nvPr/>
        </p:nvSpPr>
        <p:spPr>
          <a:xfrm>
            <a:off x="6163056" y="1371600"/>
            <a:ext cx="411480" cy="411480"/>
          </a:xfrm>
          <a:prstGeom prst="ellipse">
            <a:avLst/>
          </a:prstGeom>
          <a:solidFill>
            <a:schemeClr val="accent1"/>
          </a:solidFill>
          <a:ln/>
        </p:spPr>
      </p:sp>
      <p:pic>
        <p:nvPicPr>
          <p:cNvPr id="21" name="Image 2" descr="FaClock">    </p:cNvPr>
          <p:cNvPicPr>
            <a:picLocks noChangeAspect="1"/>
          </p:cNvPicPr>
          <p:nvPr/>
        </p:nvPicPr>
        <p:blipFill>
          <a:blip r:embed="rId3"/>
          <a:stretch>
            <a:fillRect/>
          </a:stretch>
        </p:blipFill>
        <p:spPr>
          <a:xfrm>
            <a:off x="6265926" y="1474470"/>
            <a:ext cx="205740" cy="205740"/>
          </a:xfrm>
          <a:prstGeom prst="rect">
            <a:avLst/>
          </a:prstGeom>
        </p:spPr>
      </p:pic>
      <p:sp>
        <p:nvSpPr>
          <p:cNvPr id="22" name="Text 17"/>
          <p:cNvSpPr txBox="1"/>
          <p:nvPr/>
        </p:nvSpPr>
        <p:spPr>
          <a:xfrm>
            <a:off x="6711696" y="1353312"/>
            <a:ext cx="1737360" cy="25603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Remaining useful life</a:t>
            </a:r>
            <a:endParaRPr lang="en-US" sz="1400" dirty="0"/>
          </a:p>
        </p:txBody>
      </p:sp>
      <p:sp>
        <p:nvSpPr>
          <p:cNvPr id="23" name="Text 18"/>
          <p:cNvSpPr txBox="1"/>
          <p:nvPr/>
        </p:nvSpPr>
        <p:spPr>
          <a:xfrm>
            <a:off x="6711696" y="1609344"/>
            <a:ext cx="1737360" cy="228600"/>
          </a:xfrm>
          <a:prstGeom prst="rect">
            <a:avLst/>
          </a:prstGeom>
          <a:noFill/>
          <a:ln/>
        </p:spPr>
        <p:txBody>
          <a:bodyPr wrap="square" lIns="0" tIns="0" rIns="0" bIns="0" rtlCol="0" anchor="t"/>
          <a:lstStyle/>
          <a:p>
            <a:pPr indent="0" marL="0">
              <a:buNone/>
            </a:pPr>
            <a:r>
              <a:rPr lang="en-US" sz="1000" dirty="0">
                <a:solidFill>
                  <a:schemeClr val="accent6"/>
                </a:solidFill>
                <a:latin typeface="Calibri" pitchFamily="34" charset="0"/>
                <a:ea typeface="Calibri" pitchFamily="34" charset="-122"/>
                <a:cs typeface="Calibri" pitchFamily="34" charset="-120"/>
              </a:rPr>
              <a:t>Random Forest Regressor</a:t>
            </a:r>
            <a:endParaRPr lang="en-US" sz="1000" dirty="0"/>
          </a:p>
        </p:txBody>
      </p:sp>
      <p:sp>
        <p:nvSpPr>
          <p:cNvPr id="24" name="Text 19"/>
          <p:cNvSpPr txBox="1"/>
          <p:nvPr/>
        </p:nvSpPr>
        <p:spPr>
          <a:xfrm>
            <a:off x="6163056" y="2011680"/>
            <a:ext cx="2194560" cy="59436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7.75</a:t>
            </a:r>
            <a:endParaRPr lang="en-US" sz="3600" dirty="0"/>
          </a:p>
        </p:txBody>
      </p:sp>
      <p:sp>
        <p:nvSpPr>
          <p:cNvPr id="25" name="Text 20"/>
          <p:cNvSpPr txBox="1"/>
          <p:nvPr/>
        </p:nvSpPr>
        <p:spPr>
          <a:xfrm>
            <a:off x="6163056" y="2606040"/>
            <a:ext cx="2194560" cy="36576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mean error in readings (baseline 10.22)</a:t>
            </a:r>
            <a:endParaRPr lang="en-US" sz="1100" dirty="0"/>
          </a:p>
        </p:txBody>
      </p:sp>
      <p:sp>
        <p:nvSpPr>
          <p:cNvPr id="26" name="Text 21"/>
          <p:cNvSpPr txBox="1"/>
          <p:nvPr/>
        </p:nvSpPr>
        <p:spPr>
          <a:xfrm>
            <a:off x="6163056" y="3017520"/>
            <a:ext cx="2194560" cy="150876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Better than always predicting the average, but R2 is only 0.25. It is marked experimental in the app.</a:t>
            </a:r>
            <a:endParaRPr lang="en-US" sz="11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bg1"/>
                </a:solidFill>
              </a:rPr>
              <a:t>Fleet dashboard</a:t>
            </a:r>
            <a:endParaRPr lang="en-US" sz="3000" dirty="0"/>
          </a:p>
        </p:txBody>
      </p:sp>
      <p:pic>
        <p:nvPicPr>
          <p:cNvPr id="3" name="Image 0" descr="Dashboard screenshot">    </p:cNvPr>
          <p:cNvPicPr>
            <a:picLocks noChangeAspect="1"/>
          </p:cNvPicPr>
          <p:nvPr/>
        </p:nvPicPr>
        <p:blipFill>
          <a:blip r:embed="rId1"/>
          <a:stretch>
            <a:fillRect/>
          </a:stretch>
        </p:blipFill>
        <p:spPr>
          <a:xfrm>
            <a:off x="548640" y="1189863"/>
            <a:ext cx="5669280" cy="3188970"/>
          </a:xfrm>
          <a:prstGeom prst="rect">
            <a:avLst/>
          </a:prstGeom>
          <a:effectLst>
            <a:outerShdw sx="100000" sy="100000" kx="0" ky="0" algn="bl" rotWithShape="0" blurRad="101600" dist="25400" dir="5400000">
              <a:srgbClr val="0B1530">
                <a:alpha val="12000"/>
              </a:srgbClr>
            </a:outerShdw>
          </a:effectLst>
        </p:spPr>
      </p:pic>
      <p:sp>
        <p:nvSpPr>
          <p:cNvPr id="4" name="icon circle"/>
          <p:cNvSpPr/>
          <p:nvPr/>
        </p:nvSpPr>
        <p:spPr>
          <a:xfrm>
            <a:off x="6492240" y="1188720"/>
            <a:ext cx="411480" cy="411480"/>
          </a:xfrm>
          <a:prstGeom prst="ellipse">
            <a:avLst/>
          </a:prstGeom>
          <a:solidFill>
            <a:schemeClr val="accent1"/>
          </a:solidFill>
          <a:ln/>
        </p:spPr>
      </p:sp>
      <p:pic>
        <p:nvPicPr>
          <p:cNvPr id="5" name="Image 1" descr="FaIndustry">    </p:cNvPr>
          <p:cNvPicPr>
            <a:picLocks noChangeAspect="1"/>
          </p:cNvPicPr>
          <p:nvPr/>
        </p:nvPicPr>
        <p:blipFill>
          <a:blip r:embed="rId2"/>
          <a:stretch>
            <a:fillRect/>
          </a:stretch>
        </p:blipFill>
        <p:spPr>
          <a:xfrm>
            <a:off x="6595110" y="1291590"/>
            <a:ext cx="205740" cy="205740"/>
          </a:xfrm>
          <a:prstGeom prst="rect">
            <a:avLst/>
          </a:prstGeom>
        </p:spPr>
      </p:pic>
      <p:sp>
        <p:nvSpPr>
          <p:cNvPr id="6" name="Text 2"/>
          <p:cNvSpPr txBox="1"/>
          <p:nvPr/>
        </p:nvSpPr>
        <p:spPr>
          <a:xfrm>
            <a:off x="7040880" y="1170432"/>
            <a:ext cx="1645920" cy="27432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Fleet at a glance</a:t>
            </a:r>
            <a:endParaRPr lang="en-US" sz="1400" dirty="0"/>
          </a:p>
        </p:txBody>
      </p:sp>
      <p:sp>
        <p:nvSpPr>
          <p:cNvPr id="7" name="Text 3"/>
          <p:cNvSpPr txBox="1"/>
          <p:nvPr/>
        </p:nvSpPr>
        <p:spPr>
          <a:xfrm>
            <a:off x="7040880" y="1463040"/>
            <a:ext cx="1600200" cy="6400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Machines, at-risk count and maintenance due</a:t>
            </a:r>
            <a:endParaRPr lang="en-US" sz="1100" dirty="0"/>
          </a:p>
        </p:txBody>
      </p:sp>
      <p:sp>
        <p:nvSpPr>
          <p:cNvPr id="8" name="icon circle"/>
          <p:cNvSpPr/>
          <p:nvPr/>
        </p:nvSpPr>
        <p:spPr>
          <a:xfrm>
            <a:off x="6492240" y="2286000"/>
            <a:ext cx="411480" cy="411480"/>
          </a:xfrm>
          <a:prstGeom prst="ellipse">
            <a:avLst/>
          </a:prstGeom>
          <a:solidFill>
            <a:schemeClr val="accent1"/>
          </a:solidFill>
          <a:ln/>
        </p:spPr>
      </p:sp>
      <p:pic>
        <p:nvPicPr>
          <p:cNvPr id="9" name="Image 2" descr="FaExclamationTriangle">    </p:cNvPr>
          <p:cNvPicPr>
            <a:picLocks noChangeAspect="1"/>
          </p:cNvPicPr>
          <p:nvPr/>
        </p:nvPicPr>
        <p:blipFill>
          <a:blip r:embed="rId3"/>
          <a:stretch>
            <a:fillRect/>
          </a:stretch>
        </p:blipFill>
        <p:spPr>
          <a:xfrm>
            <a:off x="6595110" y="2388870"/>
            <a:ext cx="205740" cy="205740"/>
          </a:xfrm>
          <a:prstGeom prst="rect">
            <a:avLst/>
          </a:prstGeom>
        </p:spPr>
      </p:pic>
      <p:sp>
        <p:nvSpPr>
          <p:cNvPr id="10" name="Text 5"/>
          <p:cNvSpPr txBox="1"/>
          <p:nvPr/>
        </p:nvSpPr>
        <p:spPr>
          <a:xfrm>
            <a:off x="7040880" y="2267712"/>
            <a:ext cx="1645920" cy="27432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Ranked risk table</a:t>
            </a:r>
            <a:endParaRPr lang="en-US" sz="1400" dirty="0"/>
          </a:p>
        </p:txBody>
      </p:sp>
      <p:sp>
        <p:nvSpPr>
          <p:cNvPr id="11" name="Text 6"/>
          <p:cNvSpPr txBox="1"/>
          <p:nvPr/>
        </p:nvSpPr>
        <p:spPr>
          <a:xfrm>
            <a:off x="7040880" y="2560320"/>
            <a:ext cx="1600200" cy="6400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Highest risk first, with the likely failure type</a:t>
            </a:r>
            <a:endParaRPr lang="en-US" sz="1100" dirty="0"/>
          </a:p>
        </p:txBody>
      </p:sp>
      <p:sp>
        <p:nvSpPr>
          <p:cNvPr id="12" name="icon circle"/>
          <p:cNvSpPr/>
          <p:nvPr/>
        </p:nvSpPr>
        <p:spPr>
          <a:xfrm>
            <a:off x="6492240" y="3383280"/>
            <a:ext cx="411480" cy="411480"/>
          </a:xfrm>
          <a:prstGeom prst="ellipse">
            <a:avLst/>
          </a:prstGeom>
          <a:solidFill>
            <a:schemeClr val="accent1"/>
          </a:solidFill>
          <a:ln/>
        </p:spPr>
      </p:sp>
      <p:pic>
        <p:nvPicPr>
          <p:cNvPr id="13" name="Image 3" descr="FaChartLine">    </p:cNvPr>
          <p:cNvPicPr>
            <a:picLocks noChangeAspect="1"/>
          </p:cNvPicPr>
          <p:nvPr/>
        </p:nvPicPr>
        <p:blipFill>
          <a:blip r:embed="rId4"/>
          <a:stretch>
            <a:fillRect/>
          </a:stretch>
        </p:blipFill>
        <p:spPr>
          <a:xfrm>
            <a:off x="6595110" y="3486150"/>
            <a:ext cx="205740" cy="205740"/>
          </a:xfrm>
          <a:prstGeom prst="rect">
            <a:avLst/>
          </a:prstGeom>
        </p:spPr>
      </p:pic>
      <p:sp>
        <p:nvSpPr>
          <p:cNvPr id="14" name="Text 8"/>
          <p:cNvSpPr txBox="1"/>
          <p:nvPr/>
        </p:nvSpPr>
        <p:spPr>
          <a:xfrm>
            <a:off x="7040880" y="3364992"/>
            <a:ext cx="1645920" cy="27432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Trends</a:t>
            </a:r>
            <a:endParaRPr lang="en-US" sz="1400" dirty="0"/>
          </a:p>
        </p:txBody>
      </p:sp>
      <p:sp>
        <p:nvSpPr>
          <p:cNvPr id="15" name="Text 9"/>
          <p:cNvSpPr txBox="1"/>
          <p:nvPr/>
        </p:nvSpPr>
        <p:spPr>
          <a:xfrm>
            <a:off x="7040880" y="3657600"/>
            <a:ext cx="1600200" cy="6400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Health, risk distribution and live drift check</a:t>
            </a:r>
            <a:endParaRPr lang="en-US" sz="11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bg1"/>
                </a:solidFill>
              </a:rPr>
              <a:t>Machine detail page</a:t>
            </a:r>
            <a:endParaRPr lang="en-US" sz="3000" dirty="0"/>
          </a:p>
        </p:txBody>
      </p:sp>
      <p:pic>
        <p:nvPicPr>
          <p:cNvPr id="3" name="Image 0" descr="Machine page screenshot">    </p:cNvPr>
          <p:cNvPicPr>
            <a:picLocks noChangeAspect="1"/>
          </p:cNvPicPr>
          <p:nvPr/>
        </p:nvPicPr>
        <p:blipFill>
          <a:blip r:embed="rId1"/>
          <a:stretch>
            <a:fillRect/>
          </a:stretch>
        </p:blipFill>
        <p:spPr>
          <a:xfrm>
            <a:off x="548640" y="1189863"/>
            <a:ext cx="5669280" cy="3188970"/>
          </a:xfrm>
          <a:prstGeom prst="rect">
            <a:avLst/>
          </a:prstGeom>
          <a:effectLst>
            <a:outerShdw sx="100000" sy="100000" kx="0" ky="0" algn="bl" rotWithShape="0" blurRad="101600" dist="25400" dir="5400000">
              <a:srgbClr val="0B1530">
                <a:alpha val="12000"/>
              </a:srgbClr>
            </a:outerShdw>
          </a:effectLst>
        </p:spPr>
      </p:pic>
      <p:sp>
        <p:nvSpPr>
          <p:cNvPr id="4" name="Text 1"/>
          <p:cNvSpPr txBox="1"/>
          <p:nvPr/>
        </p:nvSpPr>
        <p:spPr>
          <a:xfrm>
            <a:off x="6492240" y="1188720"/>
            <a:ext cx="210312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Risk and health</a:t>
            </a:r>
            <a:endParaRPr lang="en-US" sz="1400" dirty="0"/>
          </a:p>
        </p:txBody>
      </p:sp>
      <p:sp>
        <p:nvSpPr>
          <p:cNvPr id="5" name="Text 2"/>
          <p:cNvSpPr txBox="1"/>
          <p:nvPr/>
        </p:nvSpPr>
        <p:spPr>
          <a:xfrm>
            <a:off x="6492240" y="1463040"/>
            <a:ext cx="2103120" cy="4572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Failure probability, risk level, RUL</a:t>
            </a:r>
            <a:endParaRPr lang="en-US" sz="1200" dirty="0"/>
          </a:p>
        </p:txBody>
      </p:sp>
      <p:sp>
        <p:nvSpPr>
          <p:cNvPr id="6" name="Text 3"/>
          <p:cNvSpPr txBox="1"/>
          <p:nvPr/>
        </p:nvSpPr>
        <p:spPr>
          <a:xfrm>
            <a:off x="6492240" y="2011680"/>
            <a:ext cx="210312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Why it is at risk</a:t>
            </a:r>
            <a:endParaRPr lang="en-US" sz="1400" dirty="0"/>
          </a:p>
        </p:txBody>
      </p:sp>
      <p:sp>
        <p:nvSpPr>
          <p:cNvPr id="7" name="Text 4"/>
          <p:cNvSpPr txBox="1"/>
          <p:nvPr/>
        </p:nvSpPr>
        <p:spPr>
          <a:xfrm>
            <a:off x="6492240" y="2286000"/>
            <a:ext cx="2103120" cy="4572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Sensor groups with their share of the risk</a:t>
            </a:r>
            <a:endParaRPr lang="en-US" sz="1200" dirty="0"/>
          </a:p>
        </p:txBody>
      </p:sp>
      <p:sp>
        <p:nvSpPr>
          <p:cNvPr id="8" name="Text 5"/>
          <p:cNvSpPr txBox="1"/>
          <p:nvPr/>
        </p:nvSpPr>
        <p:spPr>
          <a:xfrm>
            <a:off x="6492240" y="2834640"/>
            <a:ext cx="210312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Recommended action</a:t>
            </a:r>
            <a:endParaRPr lang="en-US" sz="1400" dirty="0"/>
          </a:p>
        </p:txBody>
      </p:sp>
      <p:sp>
        <p:nvSpPr>
          <p:cNvPr id="9" name="Text 6"/>
          <p:cNvSpPr txBox="1"/>
          <p:nvPr/>
        </p:nvSpPr>
        <p:spPr>
          <a:xfrm>
            <a:off x="6492240" y="3108960"/>
            <a:ext cx="2103120" cy="4572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Based on the failure type, with a time-frame</a:t>
            </a:r>
            <a:endParaRPr lang="en-US" sz="1200" dirty="0"/>
          </a:p>
        </p:txBody>
      </p:sp>
      <p:sp>
        <p:nvSpPr>
          <p:cNvPr id="10" name="Text 7"/>
          <p:cNvSpPr txBox="1"/>
          <p:nvPr/>
        </p:nvSpPr>
        <p:spPr>
          <a:xfrm>
            <a:off x="6492240" y="3657600"/>
            <a:ext cx="210312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Create maintenance record</a:t>
            </a:r>
            <a:endParaRPr lang="en-US" sz="1400" dirty="0"/>
          </a:p>
        </p:txBody>
      </p:sp>
      <p:sp>
        <p:nvSpPr>
          <p:cNvPr id="11" name="Text 8"/>
          <p:cNvSpPr txBox="1"/>
          <p:nvPr/>
        </p:nvSpPr>
        <p:spPr>
          <a:xfrm>
            <a:off x="6492240" y="3931920"/>
            <a:ext cx="2103120" cy="4572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Form is pre-filled from the prediction</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From prediction to action</a:t>
            </a:r>
            <a:endParaRPr lang="en-US" sz="3000" dirty="0"/>
          </a:p>
        </p:txBody>
      </p:sp>
      <p:sp>
        <p:nvSpPr>
          <p:cNvPr id="3" name="step 1"/>
          <p:cNvSpPr/>
          <p:nvPr/>
        </p:nvSpPr>
        <p:spPr>
          <a:xfrm>
            <a:off x="548640" y="1143000"/>
            <a:ext cx="1828800" cy="457200"/>
          </a:xfrm>
          <a:prstGeom prst="roundRect">
            <a:avLst>
              <a:gd name="adj" fmla="val 50000"/>
            </a:avLst>
          </a:prstGeom>
          <a:solidFill>
            <a:schemeClr val="accent1"/>
          </a:solidFill>
          <a:ln/>
        </p:spPr>
      </p:sp>
      <p:sp>
        <p:nvSpPr>
          <p:cNvPr id="4" name="Text 2"/>
          <p:cNvSpPr txBox="1"/>
          <p:nvPr/>
        </p:nvSpPr>
        <p:spPr>
          <a:xfrm>
            <a:off x="548640" y="1143000"/>
            <a:ext cx="18288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  Predict risk</a:t>
            </a:r>
            <a:endParaRPr lang="en-US" sz="1300" dirty="0"/>
          </a:p>
        </p:txBody>
      </p:sp>
      <p:sp>
        <p:nvSpPr>
          <p:cNvPr id="5" name="step 2"/>
          <p:cNvSpPr/>
          <p:nvPr/>
        </p:nvSpPr>
        <p:spPr>
          <a:xfrm>
            <a:off x="2606040" y="1143000"/>
            <a:ext cx="1828800" cy="457200"/>
          </a:xfrm>
          <a:prstGeom prst="roundRect">
            <a:avLst>
              <a:gd name="adj" fmla="val 50000"/>
            </a:avLst>
          </a:prstGeom>
          <a:solidFill>
            <a:schemeClr val="tx1"/>
          </a:solidFill>
          <a:ln/>
        </p:spPr>
      </p:sp>
      <p:sp>
        <p:nvSpPr>
          <p:cNvPr id="6" name="Text 4"/>
          <p:cNvSpPr txBox="1"/>
          <p:nvPr/>
        </p:nvSpPr>
        <p:spPr>
          <a:xfrm>
            <a:off x="2606040" y="1143000"/>
            <a:ext cx="18288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  Recommend action</a:t>
            </a:r>
            <a:endParaRPr lang="en-US" sz="1300" dirty="0"/>
          </a:p>
        </p:txBody>
      </p:sp>
      <p:sp>
        <p:nvSpPr>
          <p:cNvPr id="7" name="step 3"/>
          <p:cNvSpPr/>
          <p:nvPr/>
        </p:nvSpPr>
        <p:spPr>
          <a:xfrm>
            <a:off x="4663440" y="1143000"/>
            <a:ext cx="1828800" cy="457200"/>
          </a:xfrm>
          <a:prstGeom prst="roundRect">
            <a:avLst>
              <a:gd name="adj" fmla="val 50000"/>
            </a:avLst>
          </a:prstGeom>
          <a:solidFill>
            <a:schemeClr val="tx1"/>
          </a:solidFill>
          <a:ln/>
        </p:spPr>
      </p:sp>
      <p:sp>
        <p:nvSpPr>
          <p:cNvPr id="8" name="Text 6"/>
          <p:cNvSpPr txBox="1"/>
          <p:nvPr/>
        </p:nvSpPr>
        <p:spPr>
          <a:xfrm>
            <a:off x="4663440" y="1143000"/>
            <a:ext cx="18288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3  Schedule record</a:t>
            </a:r>
            <a:endParaRPr lang="en-US" sz="1300" dirty="0"/>
          </a:p>
        </p:txBody>
      </p:sp>
      <p:sp>
        <p:nvSpPr>
          <p:cNvPr id="9" name="step 4"/>
          <p:cNvSpPr/>
          <p:nvPr/>
        </p:nvSpPr>
        <p:spPr>
          <a:xfrm>
            <a:off x="6720840" y="1143000"/>
            <a:ext cx="1828800" cy="457200"/>
          </a:xfrm>
          <a:prstGeom prst="roundRect">
            <a:avLst>
              <a:gd name="adj" fmla="val 50000"/>
            </a:avLst>
          </a:prstGeom>
          <a:solidFill>
            <a:schemeClr val="tx1"/>
          </a:solidFill>
          <a:ln/>
        </p:spPr>
      </p:sp>
      <p:sp>
        <p:nvSpPr>
          <p:cNvPr id="10" name="Text 8"/>
          <p:cNvSpPr txBox="1"/>
          <p:nvPr/>
        </p:nvSpPr>
        <p:spPr>
          <a:xfrm>
            <a:off x="6720840" y="1143000"/>
            <a:ext cx="18288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4  Mark completed</a:t>
            </a:r>
            <a:endParaRPr lang="en-US" sz="1300" dirty="0"/>
          </a:p>
        </p:txBody>
      </p:sp>
      <p:pic>
        <p:nvPicPr>
          <p:cNvPr id="11" name="Image 0" descr="Maintenance page screenshot">    </p:cNvPr>
          <p:cNvPicPr>
            <a:picLocks noChangeAspect="1"/>
          </p:cNvPicPr>
          <p:nvPr/>
        </p:nvPicPr>
        <p:blipFill>
          <a:blip r:embed="rId1"/>
          <a:stretch>
            <a:fillRect/>
          </a:stretch>
        </p:blipFill>
        <p:spPr>
          <a:xfrm>
            <a:off x="548640" y="1829372"/>
            <a:ext cx="3931920" cy="2211705"/>
          </a:xfrm>
          <a:prstGeom prst="rect">
            <a:avLst/>
          </a:prstGeom>
          <a:effectLst>
            <a:outerShdw sx="100000" sy="100000" kx="0" ky="0" algn="bl" rotWithShape="0" blurRad="101600" dist="25400" dir="5400000">
              <a:srgbClr val="0B1530">
                <a:alpha val="12000"/>
              </a:srgbClr>
            </a:outerShdw>
          </a:effectLst>
        </p:spPr>
      </p:pic>
      <p:pic>
        <p:nvPicPr>
          <p:cNvPr id="12" name="Image 1" descr="Anomalies page screenshot">    </p:cNvPr>
          <p:cNvPicPr>
            <a:picLocks noChangeAspect="1"/>
          </p:cNvPicPr>
          <p:nvPr/>
        </p:nvPicPr>
        <p:blipFill>
          <a:blip r:embed="rId2"/>
          <a:stretch>
            <a:fillRect/>
          </a:stretch>
        </p:blipFill>
        <p:spPr>
          <a:xfrm>
            <a:off x="4663440" y="1829372"/>
            <a:ext cx="3931920" cy="2211705"/>
          </a:xfrm>
          <a:prstGeom prst="rect">
            <a:avLst/>
          </a:prstGeom>
          <a:effectLst>
            <a:outerShdw sx="100000" sy="100000" kx="0" ky="0" algn="bl" rotWithShape="0" blurRad="101600" dist="25400" dir="5400000">
              <a:srgbClr val="0B1530">
                <a:alpha val="12000"/>
              </a:srgbClr>
            </a:outerShdw>
          </a:effectLst>
        </p:spPr>
      </p:pic>
      <p:sp>
        <p:nvSpPr>
          <p:cNvPr id="13" name="Text 9"/>
          <p:cNvSpPr txBox="1"/>
          <p:nvPr/>
        </p:nvSpPr>
        <p:spPr>
          <a:xfrm>
            <a:off x="548640" y="4160520"/>
            <a:ext cx="3931920" cy="36576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Maintenance records with priority, technician and status</a:t>
            </a:r>
            <a:endParaRPr lang="en-US" sz="1200" dirty="0"/>
          </a:p>
        </p:txBody>
      </p:sp>
      <p:sp>
        <p:nvSpPr>
          <p:cNvPr id="14" name="Text 10"/>
          <p:cNvSpPr txBox="1"/>
          <p:nvPr/>
        </p:nvSpPr>
        <p:spPr>
          <a:xfrm>
            <a:off x="4663440" y="4160520"/>
            <a:ext cx="3931920" cy="36576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Anomaly page: unusual readings with a severity level</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Check on the real AI4I 2020 dataset</a:t>
            </a:r>
            <a:endParaRPr lang="en-US" sz="3000" dirty="0"/>
          </a:p>
        </p:txBody>
      </p:sp>
      <p:sp>
        <p:nvSpPr>
          <p:cNvPr id="3" name="real data chart card"/>
          <p:cNvSpPr/>
          <p:nvPr/>
        </p:nvSpPr>
        <p:spPr>
          <a:xfrm>
            <a:off x="548640" y="1143000"/>
            <a:ext cx="4572000" cy="3474720"/>
          </a:xfrm>
          <a:prstGeom prst="roundRect">
            <a:avLst>
              <a:gd name="adj" fmla="val 2105"/>
            </a:avLst>
          </a:prstGeom>
          <a:solidFill>
            <a:schemeClr val="bg1"/>
          </a:solidFill>
          <a:ln/>
          <a:effectLst>
            <a:outerShdw sx="100000" sy="100000" kx="0" ky="0" algn="bl" rotWithShape="0" blurRad="101600" dist="25400" dir="5400000">
              <a:srgbClr val="0B1530">
                <a:alpha val="12000"/>
              </a:srgbClr>
            </a:outerShdw>
          </a:effectLst>
        </p:spPr>
      </p:sp>
      <p:graphicFrame>
        <p:nvGraphicFramePr>
          <p:cNvPr id="4" name="Chart 0" descr=""/>
          <p:cNvGraphicFramePr/>
          <p:nvPr/>
        </p:nvGraphicFramePr>
        <p:xfrm>
          <a:off x="640080" y="1234440"/>
          <a:ext cx="4389120" cy="3291840"/>
        </p:xfrm>
        <a:graphic xmlns:a="http://schemas.openxmlformats.org/drawingml/2006/main">
          <a:graphicData uri="http://schemas.openxmlformats.org/drawingml/2006/chart">
            <c:chart xmlns:c="http://schemas.openxmlformats.org/drawingml/2006/chart" r:id="rId1"/>
          </a:graphicData>
        </a:graphic>
      </p:graphicFrame>
      <p:sp>
        <p:nvSpPr>
          <p:cNvPr id="5" name="real data text card"/>
          <p:cNvSpPr/>
          <p:nvPr/>
        </p:nvSpPr>
        <p:spPr>
          <a:xfrm>
            <a:off x="5394960" y="1143000"/>
            <a:ext cx="3200400" cy="3474720"/>
          </a:xfrm>
          <a:prstGeom prst="roundRect">
            <a:avLst>
              <a:gd name="adj" fmla="val 2286"/>
            </a:avLst>
          </a:prstGeom>
          <a:solidFill>
            <a:schemeClr val="bg1"/>
          </a:solidFill>
          <a:ln/>
          <a:effectLst>
            <a:outerShdw sx="100000" sy="100000" kx="0" ky="0" algn="bl" rotWithShape="0" blurRad="101600" dist="25400" dir="5400000">
              <a:srgbClr val="0B1530">
                <a:alpha val="12000"/>
              </a:srgbClr>
            </a:outerShdw>
          </a:effectLst>
        </p:spPr>
      </p:sp>
      <p:sp>
        <p:nvSpPr>
          <p:cNvPr id="6" name="Text 3"/>
          <p:cNvSpPr txBox="1"/>
          <p:nvPr/>
        </p:nvSpPr>
        <p:spPr>
          <a:xfrm>
            <a:off x="5577840" y="1325880"/>
            <a:ext cx="283464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Same pipeline, real data</a:t>
            </a:r>
            <a:endParaRPr lang="en-US" sz="1500" dirty="0"/>
          </a:p>
        </p:txBody>
      </p:sp>
      <p:sp>
        <p:nvSpPr>
          <p:cNvPr id="7" name="Text 4"/>
          <p:cNvSpPr txBox="1"/>
          <p:nvPr/>
        </p:nvSpPr>
        <p:spPr>
          <a:xfrm>
            <a:off x="5577840" y="1737360"/>
            <a:ext cx="2834640" cy="2743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Real file converted with import_ai4i.py, no code changes</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Gradient boosting is still the best model (F1 0.794)</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Score is lower because AI4I rows are independent: no machine history, so rolling features help less</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bg1"/>
                </a:solidFill>
              </a:rPr>
              <a:t>Testing and API</a:t>
            </a:r>
            <a:endParaRPr lang="en-US" sz="3000" dirty="0"/>
          </a:p>
        </p:txBody>
      </p:sp>
      <p:sp>
        <p:nvSpPr>
          <p:cNvPr id="3" name="tests card"/>
          <p:cNvSpPr/>
          <p:nvPr/>
        </p:nvSpPr>
        <p:spPr>
          <a:xfrm>
            <a:off x="548640" y="1188720"/>
            <a:ext cx="2743200" cy="3291840"/>
          </a:xfrm>
          <a:prstGeom prst="roundRect">
            <a:avLst>
              <a:gd name="adj" fmla="val 2667"/>
            </a:avLst>
          </a:prstGeom>
          <a:solidFill>
            <a:srgbClr val="1F2A4D"/>
          </a:solidFill>
          <a:ln/>
          <a:effectLst>
            <a:outerShdw sx="100000" sy="100000" kx="0" ky="0" algn="bl" rotWithShape="0" blurRad="101600" dist="25400" dir="5400000">
              <a:srgbClr val="0B1530">
                <a:alpha val="12000"/>
              </a:srgbClr>
            </a:outerShdw>
          </a:effectLst>
        </p:spPr>
      </p:sp>
      <p:sp>
        <p:nvSpPr>
          <p:cNvPr id="4" name="Text 2"/>
          <p:cNvSpPr txBox="1"/>
          <p:nvPr/>
        </p:nvSpPr>
        <p:spPr>
          <a:xfrm>
            <a:off x="777240" y="1325880"/>
            <a:ext cx="2286000" cy="91440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46</a:t>
            </a:r>
            <a:endParaRPr lang="en-US" sz="6000" dirty="0"/>
          </a:p>
        </p:txBody>
      </p:sp>
      <p:sp>
        <p:nvSpPr>
          <p:cNvPr id="5" name="Text 3"/>
          <p:cNvSpPr txBox="1"/>
          <p:nvPr/>
        </p:nvSpPr>
        <p:spPr>
          <a:xfrm>
            <a:off x="777240" y="2286000"/>
            <a:ext cx="2286000" cy="36576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automated tests, all passing</a:t>
            </a:r>
            <a:endParaRPr lang="en-US" sz="1400" dirty="0"/>
          </a:p>
        </p:txBody>
      </p:sp>
      <p:sp>
        <p:nvSpPr>
          <p:cNvPr id="6" name="Text 4"/>
          <p:cNvSpPr txBox="1"/>
          <p:nvPr/>
        </p:nvSpPr>
        <p:spPr>
          <a:xfrm>
            <a:off x="777240" y="2743200"/>
            <a:ext cx="2377440" cy="1645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Input validation and risk rules</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Pages, API and maintenance flow</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Leakage check on rolling features</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Temporary database for every run</a:t>
            </a:r>
            <a:endParaRPr lang="en-US" sz="1200" dirty="0"/>
          </a:p>
        </p:txBody>
      </p:sp>
      <p:sp>
        <p:nvSpPr>
          <p:cNvPr id="7" name="api card"/>
          <p:cNvSpPr/>
          <p:nvPr/>
        </p:nvSpPr>
        <p:spPr>
          <a:xfrm>
            <a:off x="3566160" y="1188720"/>
            <a:ext cx="5029200" cy="3291840"/>
          </a:xfrm>
          <a:prstGeom prst="roundRect">
            <a:avLst>
              <a:gd name="adj" fmla="val 2222"/>
            </a:avLst>
          </a:prstGeom>
          <a:solidFill>
            <a:srgbClr val="1F2A4D"/>
          </a:solidFill>
          <a:ln/>
          <a:effectLst>
            <a:outerShdw sx="100000" sy="100000" kx="0" ky="0" algn="bl" rotWithShape="0" blurRad="101600" dist="25400" dir="5400000">
              <a:srgbClr val="0B1530">
                <a:alpha val="12000"/>
              </a:srgbClr>
            </a:outerShdw>
          </a:effectLst>
        </p:spPr>
      </p:sp>
      <p:sp>
        <p:nvSpPr>
          <p:cNvPr id="8" name="Text 6"/>
          <p:cNvSpPr txBox="1"/>
          <p:nvPr/>
        </p:nvSpPr>
        <p:spPr>
          <a:xfrm>
            <a:off x="3794760" y="1325880"/>
            <a:ext cx="457200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REST endpoints</a:t>
            </a:r>
            <a:endParaRPr lang="en-US" sz="1500" dirty="0"/>
          </a:p>
        </p:txBody>
      </p:sp>
      <p:sp>
        <p:nvSpPr>
          <p:cNvPr id="9" name="Text 7"/>
          <p:cNvSpPr txBox="1"/>
          <p:nvPr/>
        </p:nvSpPr>
        <p:spPr>
          <a:xfrm>
            <a:off x="3794760" y="1737360"/>
            <a:ext cx="2103120" cy="36576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POST /api/predict</a:t>
            </a:r>
            <a:endParaRPr lang="en-US" sz="1200" dirty="0"/>
          </a:p>
        </p:txBody>
      </p:sp>
      <p:sp>
        <p:nvSpPr>
          <p:cNvPr id="10" name="Text 8"/>
          <p:cNvSpPr txBox="1"/>
          <p:nvPr/>
        </p:nvSpPr>
        <p:spPr>
          <a:xfrm>
            <a:off x="5943600" y="1737360"/>
            <a:ext cx="2560320" cy="36576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Risk, anomaly, type, RUL and explanation</a:t>
            </a:r>
            <a:endParaRPr lang="en-US" sz="1200" dirty="0"/>
          </a:p>
        </p:txBody>
      </p:sp>
      <p:sp>
        <p:nvSpPr>
          <p:cNvPr id="11" name="Text 9"/>
          <p:cNvSpPr txBox="1"/>
          <p:nvPr/>
        </p:nvSpPr>
        <p:spPr>
          <a:xfrm>
            <a:off x="3794760" y="2194560"/>
            <a:ext cx="2103120" cy="36576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GET /api/summary</a:t>
            </a:r>
            <a:endParaRPr lang="en-US" sz="1200" dirty="0"/>
          </a:p>
        </p:txBody>
      </p:sp>
      <p:sp>
        <p:nvSpPr>
          <p:cNvPr id="12" name="Text 10"/>
          <p:cNvSpPr txBox="1"/>
          <p:nvPr/>
        </p:nvSpPr>
        <p:spPr>
          <a:xfrm>
            <a:off x="5943600" y="2194560"/>
            <a:ext cx="2560320" cy="36576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Fleet numbers for the dashboard</a:t>
            </a:r>
            <a:endParaRPr lang="en-US" sz="1200" dirty="0"/>
          </a:p>
        </p:txBody>
      </p:sp>
      <p:sp>
        <p:nvSpPr>
          <p:cNvPr id="13" name="Text 11"/>
          <p:cNvSpPr txBox="1"/>
          <p:nvPr/>
        </p:nvSpPr>
        <p:spPr>
          <a:xfrm>
            <a:off x="3794760" y="2651760"/>
            <a:ext cx="2103120" cy="36576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GET /api/machines</a:t>
            </a:r>
            <a:endParaRPr lang="en-US" sz="1200" dirty="0"/>
          </a:p>
        </p:txBody>
      </p:sp>
      <p:sp>
        <p:nvSpPr>
          <p:cNvPr id="14" name="Text 12"/>
          <p:cNvSpPr txBox="1"/>
          <p:nvPr/>
        </p:nvSpPr>
        <p:spPr>
          <a:xfrm>
            <a:off x="5943600" y="2651760"/>
            <a:ext cx="2560320" cy="36576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All machines with latest risk</a:t>
            </a:r>
            <a:endParaRPr lang="en-US" sz="1200" dirty="0"/>
          </a:p>
        </p:txBody>
      </p:sp>
      <p:sp>
        <p:nvSpPr>
          <p:cNvPr id="15" name="Text 13"/>
          <p:cNvSpPr txBox="1"/>
          <p:nvPr/>
        </p:nvSpPr>
        <p:spPr>
          <a:xfrm>
            <a:off x="3794760" y="3108960"/>
            <a:ext cx="2103120" cy="36576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GET/POST /api/maintenance</a:t>
            </a:r>
            <a:endParaRPr lang="en-US" sz="1200" dirty="0"/>
          </a:p>
        </p:txBody>
      </p:sp>
      <p:sp>
        <p:nvSpPr>
          <p:cNvPr id="16" name="Text 14"/>
          <p:cNvSpPr txBox="1"/>
          <p:nvPr/>
        </p:nvSpPr>
        <p:spPr>
          <a:xfrm>
            <a:off x="5943600" y="3108960"/>
            <a:ext cx="2560320" cy="36576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List and create records</a:t>
            </a:r>
            <a:endParaRPr lang="en-US" sz="1200" dirty="0"/>
          </a:p>
        </p:txBody>
      </p:sp>
      <p:sp>
        <p:nvSpPr>
          <p:cNvPr id="17" name="Text 15"/>
          <p:cNvSpPr txBox="1"/>
          <p:nvPr/>
        </p:nvSpPr>
        <p:spPr>
          <a:xfrm>
            <a:off x="3794760" y="3566160"/>
            <a:ext cx="2103120" cy="36576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GET /api/drift</a:t>
            </a:r>
            <a:endParaRPr lang="en-US" sz="1200" dirty="0"/>
          </a:p>
        </p:txBody>
      </p:sp>
      <p:sp>
        <p:nvSpPr>
          <p:cNvPr id="18" name="Text 16"/>
          <p:cNvSpPr txBox="1"/>
          <p:nvPr/>
        </p:nvSpPr>
        <p:spPr>
          <a:xfrm>
            <a:off x="5943600" y="3566160"/>
            <a:ext cx="2560320" cy="36576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Live data vs training data</a:t>
            </a:r>
            <a:endParaRPr lang="en-US" sz="1200" dirty="0"/>
          </a:p>
        </p:txBody>
      </p:sp>
      <p:sp>
        <p:nvSpPr>
          <p:cNvPr id="19" name="Text 17"/>
          <p:cNvSpPr txBox="1"/>
          <p:nvPr/>
        </p:nvSpPr>
        <p:spPr>
          <a:xfrm>
            <a:off x="3794760" y="4023360"/>
            <a:ext cx="2103120" cy="36576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GET /health</a:t>
            </a:r>
            <a:endParaRPr lang="en-US" sz="1200" dirty="0"/>
          </a:p>
        </p:txBody>
      </p:sp>
      <p:sp>
        <p:nvSpPr>
          <p:cNvPr id="20" name="Text 18"/>
          <p:cNvSpPr txBox="1"/>
          <p:nvPr/>
        </p:nvSpPr>
        <p:spPr>
          <a:xfrm>
            <a:off x="5943600" y="4023360"/>
            <a:ext cx="2560320" cy="36576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Status and model version</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Limitations and future scope</a:t>
            </a:r>
            <a:endParaRPr lang="en-US" sz="3000" dirty="0"/>
          </a:p>
        </p:txBody>
      </p:sp>
      <p:sp>
        <p:nvSpPr>
          <p:cNvPr id="3" name="limitations card"/>
          <p:cNvSpPr/>
          <p:nvPr/>
        </p:nvSpPr>
        <p:spPr>
          <a:xfrm>
            <a:off x="548640" y="1143000"/>
            <a:ext cx="3931920" cy="3474720"/>
          </a:xfrm>
          <a:prstGeom prst="roundRect">
            <a:avLst>
              <a:gd name="adj" fmla="val 2105"/>
            </a:avLst>
          </a:prstGeom>
          <a:solidFill>
            <a:schemeClr val="bg1"/>
          </a:solidFill>
          <a:ln/>
          <a:effectLst>
            <a:outerShdw sx="100000" sy="100000" kx="0" ky="0" algn="bl" rotWithShape="0" blurRad="101600" dist="25400" dir="5400000">
              <a:srgbClr val="0B1530">
                <a:alpha val="12000"/>
              </a:srgbClr>
            </a:outerShdw>
          </a:effectLst>
        </p:spPr>
      </p:sp>
      <p:sp>
        <p:nvSpPr>
          <p:cNvPr id="4" name="icon circle"/>
          <p:cNvSpPr/>
          <p:nvPr/>
        </p:nvSpPr>
        <p:spPr>
          <a:xfrm>
            <a:off x="777240" y="1325880"/>
            <a:ext cx="411480" cy="411480"/>
          </a:xfrm>
          <a:prstGeom prst="ellipse">
            <a:avLst/>
          </a:prstGeom>
          <a:solidFill>
            <a:schemeClr val="accent2"/>
          </a:solidFill>
          <a:ln/>
        </p:spPr>
      </p:sp>
      <p:pic>
        <p:nvPicPr>
          <p:cNvPr id="5" name="Image 0" descr="FaExclamationTriangle">    </p:cNvPr>
          <p:cNvPicPr>
            <a:picLocks noChangeAspect="1"/>
          </p:cNvPicPr>
          <p:nvPr/>
        </p:nvPicPr>
        <p:blipFill>
          <a:blip r:embed="rId1"/>
          <a:stretch>
            <a:fillRect/>
          </a:stretch>
        </p:blipFill>
        <p:spPr>
          <a:xfrm>
            <a:off x="880110" y="1428750"/>
            <a:ext cx="205740" cy="205740"/>
          </a:xfrm>
          <a:prstGeom prst="rect">
            <a:avLst/>
          </a:prstGeom>
        </p:spPr>
      </p:pic>
      <p:sp>
        <p:nvSpPr>
          <p:cNvPr id="6" name="Text 3"/>
          <p:cNvSpPr txBox="1"/>
          <p:nvPr/>
        </p:nvSpPr>
        <p:spPr>
          <a:xfrm>
            <a:off x="1325880" y="1325880"/>
            <a:ext cx="292608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Honest limitations</a:t>
            </a:r>
            <a:endParaRPr lang="en-US" sz="1600" dirty="0"/>
          </a:p>
        </p:txBody>
      </p:sp>
      <p:sp>
        <p:nvSpPr>
          <p:cNvPr id="7" name="Text 4"/>
          <p:cNvSpPr txBox="1"/>
          <p:nvPr/>
        </p:nvSpPr>
        <p:spPr>
          <a:xfrm>
            <a:off x="777240" y="1920240"/>
            <a:ext cx="3474720" cy="26517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Default data is synthetic, real plant results will differ</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Anomaly and RUL are supporting and experimental</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Explanation is a what-if method, not SHAP</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No login or CSRF protection (single-user demo)</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Flask development server, not production</a:t>
            </a:r>
            <a:endParaRPr lang="en-US" sz="1200" dirty="0"/>
          </a:p>
        </p:txBody>
      </p:sp>
      <p:sp>
        <p:nvSpPr>
          <p:cNvPr id="8" name="future card"/>
          <p:cNvSpPr/>
          <p:nvPr/>
        </p:nvSpPr>
        <p:spPr>
          <a:xfrm>
            <a:off x="4663440" y="1143000"/>
            <a:ext cx="3931920" cy="3474720"/>
          </a:xfrm>
          <a:prstGeom prst="roundRect">
            <a:avLst>
              <a:gd name="adj" fmla="val 2105"/>
            </a:avLst>
          </a:prstGeom>
          <a:solidFill>
            <a:schemeClr val="tx1"/>
          </a:solidFill>
          <a:ln/>
          <a:effectLst>
            <a:outerShdw sx="100000" sy="100000" kx="0" ky="0" algn="bl" rotWithShape="0" blurRad="101600" dist="25400" dir="5400000">
              <a:srgbClr val="0B1530">
                <a:alpha val="12000"/>
              </a:srgbClr>
            </a:outerShdw>
          </a:effectLst>
        </p:spPr>
      </p:sp>
      <p:sp>
        <p:nvSpPr>
          <p:cNvPr id="9" name="icon circle"/>
          <p:cNvSpPr/>
          <p:nvPr/>
        </p:nvSpPr>
        <p:spPr>
          <a:xfrm>
            <a:off x="4892040" y="1325880"/>
            <a:ext cx="411480" cy="411480"/>
          </a:xfrm>
          <a:prstGeom prst="ellipse">
            <a:avLst/>
          </a:prstGeom>
          <a:solidFill>
            <a:schemeClr val="accent1"/>
          </a:solidFill>
          <a:ln/>
        </p:spPr>
      </p:sp>
      <p:pic>
        <p:nvPicPr>
          <p:cNvPr id="10" name="Image 1" descr="FaBullseye">    </p:cNvPr>
          <p:cNvPicPr>
            <a:picLocks noChangeAspect="1"/>
          </p:cNvPicPr>
          <p:nvPr/>
        </p:nvPicPr>
        <p:blipFill>
          <a:blip r:embed="rId2"/>
          <a:stretch>
            <a:fillRect/>
          </a:stretch>
        </p:blipFill>
        <p:spPr>
          <a:xfrm>
            <a:off x="4994910" y="1428750"/>
            <a:ext cx="205740" cy="205740"/>
          </a:xfrm>
          <a:prstGeom prst="rect">
            <a:avLst/>
          </a:prstGeom>
        </p:spPr>
      </p:pic>
      <p:sp>
        <p:nvSpPr>
          <p:cNvPr id="11" name="Text 7"/>
          <p:cNvSpPr txBox="1"/>
          <p:nvPr/>
        </p:nvSpPr>
        <p:spPr>
          <a:xfrm>
            <a:off x="5440680" y="1325880"/>
            <a:ext cx="2926080" cy="41148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Future scope</a:t>
            </a:r>
            <a:endParaRPr lang="en-US" sz="1600" dirty="0"/>
          </a:p>
        </p:txBody>
      </p:sp>
      <p:sp>
        <p:nvSpPr>
          <p:cNvPr id="12" name="Text 8"/>
          <p:cNvSpPr txBox="1"/>
          <p:nvPr/>
        </p:nvSpPr>
        <p:spPr>
          <a:xfrm>
            <a:off x="4892040" y="1920240"/>
            <a:ext cx="3474720" cy="26517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Train on real plant data with proper machine histories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Live sensors through MQTT or OPC-UA</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SHAP explanations and probability calibration</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Choose the threshold from the real cost of a missed failure</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Login, roles and a production server</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297680" cy="1737360"/>
          </a:xfrm>
          <a:prstGeom prst="rect">
            <a:avLst/>
          </a:prstGeom>
          <a:noFill/>
          <a:ln/>
        </p:spPr>
        <p:txBody>
          <a:bodyPr wrap="square" lIns="0" tIns="0" rIns="0" bIns="0" rtlCol="0" anchor="t"/>
          <a:lstStyle/>
          <a:p>
            <a:pPr algn="l" indent="0" marL="0">
              <a:buNone/>
            </a:pPr>
            <a:r>
              <a:rPr lang="en-US" sz="3400" b="1" dirty="0">
                <a:solidFill>
                  <a:schemeClr val="bg1"/>
                </a:solidFill>
              </a:rPr>
              <a:t>Conclusion</a:t>
            </a:r>
            <a:endParaRPr lang="en-US" sz="3400" dirty="0"/>
          </a:p>
        </p:txBody>
      </p:sp>
      <p:sp>
        <p:nvSpPr>
          <p:cNvPr id="3" name="Text 1"/>
          <p:cNvSpPr txBox="1"/>
          <p:nvPr/>
        </p:nvSpPr>
        <p:spPr>
          <a:xfrm>
            <a:off x="548640" y="1828800"/>
            <a:ext cx="4023360" cy="8229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A complete system, not only a model</a:t>
            </a:r>
            <a:endParaRPr lang="en-US" sz="1800" dirty="0"/>
          </a:p>
        </p:txBody>
      </p:sp>
      <p:sp>
        <p:nvSpPr>
          <p:cNvPr id="4" name="Text 2"/>
          <p:cNvSpPr txBox="1"/>
          <p:nvPr/>
        </p:nvSpPr>
        <p:spPr>
          <a:xfrm>
            <a:off x="548640" y="4023360"/>
            <a:ext cx="402336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Thank you. Questions?</a:t>
            </a:r>
            <a:endParaRPr lang="en-US" sz="2000" dirty="0"/>
          </a:p>
        </p:txBody>
      </p:sp>
      <p:sp>
        <p:nvSpPr>
          <p:cNvPr id="5" name="takeaway 1"/>
          <p:cNvSpPr/>
          <p:nvPr/>
        </p:nvSpPr>
        <p:spPr>
          <a:xfrm>
            <a:off x="4937760" y="914400"/>
            <a:ext cx="3657600" cy="1051560"/>
          </a:xfrm>
          <a:prstGeom prst="roundRect">
            <a:avLst>
              <a:gd name="adj" fmla="val 6957"/>
            </a:avLst>
          </a:prstGeom>
          <a:solidFill>
            <a:schemeClr val="tx2"/>
          </a:solidFill>
          <a:ln/>
        </p:spPr>
      </p:sp>
      <p:sp>
        <p:nvSpPr>
          <p:cNvPr id="6" name="icon circle"/>
          <p:cNvSpPr/>
          <p:nvPr/>
        </p:nvSpPr>
        <p:spPr>
          <a:xfrm>
            <a:off x="5120640" y="1207008"/>
            <a:ext cx="457200" cy="457200"/>
          </a:xfrm>
          <a:prstGeom prst="ellipse">
            <a:avLst/>
          </a:prstGeom>
          <a:solidFill>
            <a:schemeClr val="accent1"/>
          </a:solidFill>
          <a:ln/>
        </p:spPr>
      </p:sp>
      <p:pic>
        <p:nvPicPr>
          <p:cNvPr id="7" name="Image 0" descr="FaCheckCircle">    </p:cNvPr>
          <p:cNvPicPr>
            <a:picLocks noChangeAspect="1"/>
          </p:cNvPicPr>
          <p:nvPr/>
        </p:nvPicPr>
        <p:blipFill>
          <a:blip r:embed="rId1"/>
          <a:stretch>
            <a:fillRect/>
          </a:stretch>
        </p:blipFill>
        <p:spPr>
          <a:xfrm>
            <a:off x="5234940" y="1321308"/>
            <a:ext cx="228600" cy="228600"/>
          </a:xfrm>
          <a:prstGeom prst="rect">
            <a:avLst/>
          </a:prstGeom>
        </p:spPr>
      </p:pic>
      <p:sp>
        <p:nvSpPr>
          <p:cNvPr id="8" name="Text 5"/>
          <p:cNvSpPr txBox="1"/>
          <p:nvPr/>
        </p:nvSpPr>
        <p:spPr>
          <a:xfrm>
            <a:off x="5760720" y="1051560"/>
            <a:ext cx="2743200" cy="27432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Correct ML practice</a:t>
            </a:r>
            <a:endParaRPr lang="en-US" sz="1400" dirty="0"/>
          </a:p>
        </p:txBody>
      </p:sp>
      <p:sp>
        <p:nvSpPr>
          <p:cNvPr id="9" name="Text 6"/>
          <p:cNvSpPr txBox="1"/>
          <p:nvPr/>
        </p:nvSpPr>
        <p:spPr>
          <a:xfrm>
            <a:off x="5760720" y="1344168"/>
            <a:ext cx="2743200" cy="5486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Time split, no leakage, class weights, the right metrics</a:t>
            </a:r>
            <a:endParaRPr lang="en-US" sz="1100" dirty="0"/>
          </a:p>
        </p:txBody>
      </p:sp>
      <p:sp>
        <p:nvSpPr>
          <p:cNvPr id="10" name="takeaway 2"/>
          <p:cNvSpPr/>
          <p:nvPr/>
        </p:nvSpPr>
        <p:spPr>
          <a:xfrm>
            <a:off x="4937760" y="2148840"/>
            <a:ext cx="3657600" cy="1051560"/>
          </a:xfrm>
          <a:prstGeom prst="roundRect">
            <a:avLst>
              <a:gd name="adj" fmla="val 6957"/>
            </a:avLst>
          </a:prstGeom>
          <a:solidFill>
            <a:schemeClr val="tx2"/>
          </a:solidFill>
          <a:ln/>
        </p:spPr>
      </p:sp>
      <p:sp>
        <p:nvSpPr>
          <p:cNvPr id="11" name="icon circle"/>
          <p:cNvSpPr/>
          <p:nvPr/>
        </p:nvSpPr>
        <p:spPr>
          <a:xfrm>
            <a:off x="5120640" y="2441448"/>
            <a:ext cx="457200" cy="457200"/>
          </a:xfrm>
          <a:prstGeom prst="ellipse">
            <a:avLst/>
          </a:prstGeom>
          <a:solidFill>
            <a:schemeClr val="accent1"/>
          </a:solidFill>
          <a:ln/>
        </p:spPr>
      </p:sp>
      <p:pic>
        <p:nvPicPr>
          <p:cNvPr id="12" name="Image 1" descr="FaBrain">    </p:cNvPr>
          <p:cNvPicPr>
            <a:picLocks noChangeAspect="1"/>
          </p:cNvPicPr>
          <p:nvPr/>
        </p:nvPicPr>
        <p:blipFill>
          <a:blip r:embed="rId2"/>
          <a:stretch>
            <a:fillRect/>
          </a:stretch>
        </p:blipFill>
        <p:spPr>
          <a:xfrm>
            <a:off x="5234940" y="2555748"/>
            <a:ext cx="228600" cy="228600"/>
          </a:xfrm>
          <a:prstGeom prst="rect">
            <a:avLst/>
          </a:prstGeom>
        </p:spPr>
      </p:pic>
      <p:sp>
        <p:nvSpPr>
          <p:cNvPr id="13" name="Text 9"/>
          <p:cNvSpPr txBox="1"/>
          <p:nvPr/>
        </p:nvSpPr>
        <p:spPr>
          <a:xfrm>
            <a:off x="5760720" y="2286000"/>
            <a:ext cx="2743200" cy="27432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Useful output</a:t>
            </a:r>
            <a:endParaRPr lang="en-US" sz="1400" dirty="0"/>
          </a:p>
        </p:txBody>
      </p:sp>
      <p:sp>
        <p:nvSpPr>
          <p:cNvPr id="14" name="Text 10"/>
          <p:cNvSpPr txBox="1"/>
          <p:nvPr/>
        </p:nvSpPr>
        <p:spPr>
          <a:xfrm>
            <a:off x="5760720" y="2578608"/>
            <a:ext cx="2743200" cy="5486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Risk, reason, failure type and a recommended action</a:t>
            </a:r>
            <a:endParaRPr lang="en-US" sz="1100" dirty="0"/>
          </a:p>
        </p:txBody>
      </p:sp>
      <p:sp>
        <p:nvSpPr>
          <p:cNvPr id="15" name="takeaway 3"/>
          <p:cNvSpPr/>
          <p:nvPr/>
        </p:nvSpPr>
        <p:spPr>
          <a:xfrm>
            <a:off x="4937760" y="3383280"/>
            <a:ext cx="3657600" cy="1051560"/>
          </a:xfrm>
          <a:prstGeom prst="roundRect">
            <a:avLst>
              <a:gd name="adj" fmla="val 6957"/>
            </a:avLst>
          </a:prstGeom>
          <a:solidFill>
            <a:schemeClr val="tx2"/>
          </a:solidFill>
          <a:ln/>
        </p:spPr>
      </p:sp>
      <p:sp>
        <p:nvSpPr>
          <p:cNvPr id="16" name="icon circle"/>
          <p:cNvSpPr/>
          <p:nvPr/>
        </p:nvSpPr>
        <p:spPr>
          <a:xfrm>
            <a:off x="5120640" y="3675888"/>
            <a:ext cx="457200" cy="457200"/>
          </a:xfrm>
          <a:prstGeom prst="ellipse">
            <a:avLst/>
          </a:prstGeom>
          <a:solidFill>
            <a:schemeClr val="accent1"/>
          </a:solidFill>
          <a:ln/>
        </p:spPr>
      </p:sp>
      <p:pic>
        <p:nvPicPr>
          <p:cNvPr id="17" name="Image 2" descr="FaServer">    </p:cNvPr>
          <p:cNvPicPr>
            <a:picLocks noChangeAspect="1"/>
          </p:cNvPicPr>
          <p:nvPr/>
        </p:nvPicPr>
        <p:blipFill>
          <a:blip r:embed="rId3"/>
          <a:stretch>
            <a:fillRect/>
          </a:stretch>
        </p:blipFill>
        <p:spPr>
          <a:xfrm>
            <a:off x="5234940" y="3790188"/>
            <a:ext cx="228600" cy="228600"/>
          </a:xfrm>
          <a:prstGeom prst="rect">
            <a:avLst/>
          </a:prstGeom>
        </p:spPr>
      </p:pic>
      <p:sp>
        <p:nvSpPr>
          <p:cNvPr id="18" name="Text 13"/>
          <p:cNvSpPr txBox="1"/>
          <p:nvPr/>
        </p:nvSpPr>
        <p:spPr>
          <a:xfrm>
            <a:off x="5760720" y="3520440"/>
            <a:ext cx="2743200" cy="27432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Working system</a:t>
            </a:r>
            <a:endParaRPr lang="en-US" sz="1400" dirty="0"/>
          </a:p>
        </p:txBody>
      </p:sp>
      <p:sp>
        <p:nvSpPr>
          <p:cNvPr id="19" name="Text 14"/>
          <p:cNvSpPr txBox="1"/>
          <p:nvPr/>
        </p:nvSpPr>
        <p:spPr>
          <a:xfrm>
            <a:off x="5760720" y="3813048"/>
            <a:ext cx="2743200" cy="5486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Dashboard, database, API, maintenance flow and 46 tests</a:t>
            </a:r>
            <a:endParaRPr lang="en-US" sz="1100" dirty="0"/>
          </a:p>
        </p:txBody>
      </p:sp>
    </p:spTree>
  </p:cSld>
  <p:clrMapOvr>
    <a:masterClrMapping/>
  </p:clrMapOvr>
</p:sld>
</file>

<file path=ppt/theme/theme1.xml><?xml version="1.0" encoding="utf-8"?>
<a:theme xmlns:a="http://schemas.openxmlformats.org/drawingml/2006/main" name="Predictive Maintenance">
  <a:themeElements>
    <a:clrScheme name="Predictive Maintenance">
      <a:dk1>
        <a:srgbClr val="0B1530"/>
      </a:dk1>
      <a:lt1>
        <a:srgbClr val="FFFFFF"/>
      </a:lt1>
      <a:dk2>
        <a:srgbClr val="1F2A4D"/>
      </a:dk2>
      <a:lt2>
        <a:srgbClr val="EEF2F9"/>
      </a:lt2>
      <a:accent1>
        <a:srgbClr val="14B8A6"/>
      </a:accent1>
      <a:accent2>
        <a:srgbClr val="F59E0B"/>
      </a:accent2>
      <a:accent3>
        <a:srgbClr val="EF4444"/>
      </a:accent3>
      <a:accent4>
        <a:srgbClr val="6366F1"/>
      </a:accent4>
      <a:accent5>
        <a:srgbClr val="22C55E"/>
      </a:accent5>
      <a:accent6>
        <a:srgbClr val="64748B"/>
      </a:accent6>
      <a:hlink>
        <a:srgbClr val="14B8A6"/>
      </a:hlink>
      <a:folHlink>
        <a:srgbClr val="64748B"/>
      </a:folHlink>
    </a:clrScheme>
    <a:fontScheme name="Predictive Mainten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Predictive Maintenance Platform</dc:title>
  <dc:subject>PptxGenJS Presentation</dc:subject>
  <dc:creator>Gaurav Kumar</dc:creator>
  <cp:lastModifiedBy>Gaurav Kumar</cp:lastModifiedBy>
  <cp:revision>1</cp:revision>
  <dcterms:created xsi:type="dcterms:W3CDTF">2026-10-18T09:31:15Z</dcterms:created>
  <dcterms:modified xsi:type="dcterms:W3CDTF">2026-10-18T09:31:15Z</dcterms:modified>
</cp:coreProperties>
</file>